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Anthony, the ask is simple, but the reason for it is unusual. I am asking for help to protect, test, and commercialise a discovery before exposing it too widely. The core claim is that every completed sentence may have a recoverable structural address, and that faithful translations should land in the same address even when the words and grammar change completely. If that is true, this could become a sentence-auditing layer for AI output, translation, legal language, policy language, and agent instructions. I am not asking you to validate the whole theory in this meeting. I am asking for guidance on the safest first route: who to speak to first, how to protect the idea, how to test it with trusted technical reviewers, and how to explore commercial development without giving away the discovery or its value. I am bringing this through PorterShed because it is exactly the kind of environment where an early, unusual, potentially high-value idea can be pressure-tested without immediately becoming overexposed.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begin with the smallest possible observation. A sentence is not complete because it stops. It stops because it has become complete. That sounds obvious at first, but it is actually the doorway into the whole system. When a sentence lands properly, we do not usually notice the landing. Meaning arrives, and the structure disappears behind it. But when completion fails, or when a sentence goes too far, the structure suddenly becomes visible. The claim I want to investigate is that completed sentences do not merely end. They settle. They land. And if they land, then perhaps that landing has a recoverable structure. I am not beginning by asking anyone to accept a theory. I am beginning with an ordinary experience every speaker already has. We know when a sentence has completed. We know when it has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point is that we know a sentence is broken before we know why it is broken. That matters because it means the recognition of sentence failure is not mainly academic. It is immediate. It is pre-technical. You do not need to know grammar to feel that something has failed. A child can hear an unfinished sentence and wait for the missing piece. An adult can hear a malformed instruction and hesitate before acting. In both cases, something in the listener is detecting that the sentence has not landed. This is important for Settlement Gate because it suggests that sentence completion has a structure beneath ordinary explanation. We can explain the failure afterwards, but the recognition comes first. That recognition is the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sentence “Did you put the dog?” exposes the structure by failing to close. When I say that, you feel the sentence ask for something more. It is not simply that the sentence is short. Many complete sentences are short. “Sit down.” “Stop.” “It rained.” Those are complete. The problem with “Did you put the dog?” is that it opens a demand it does not satisfy. The listener is left waiting. Put the dog where? Put the dog out? Put the dog in the car? Put the dog on the lead? That waiting is structurally important. The sentence has created pressure but has not resolved it. The point is not to turn this into a grammar lesson. The point is to show that the listener feels the missing closure.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get the opposite case: “Did you put the dog out, milk?” This is wrong in a different way. “Did you put the dog out?” had already closed. It had landed. It was a complete question. Then “milk” arrives after the landing, and the listener feels a different kind of disturbance. The sentence has not failed to complete. It has gone past completion. This example is useful because it shows that completion is not just a matter of adding enough words. Too few words can fail the sentence, but extra words can also violate it. That means completion has a boundary. There is a point at which the sentence has done enough structural work to settle, and after that point the wrong addition is felt as intrusion.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Meaning is so successful that it hides the machinery that produced it. Most of the time, this is a blessing. We do not want to inspect every sentence we hear. If someone says, “The ferry has departed,” we understand and move on. If someone says, “The study is publicly available,” we understand and move on. Meaning arrives quickly, and because it arrives quickly, we do not notice the settlement work that made it possible. But in high-stakes settings, that hidden machinery matters. AI systems can generate fluent sentences that sound complete and confident. Legal documents can contain sentences that quietly shift obligation. Translation can preserve the topic while changing the structural commitment. Settlement Gate asks us to pause before meaning takes over completely.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sentence is the smallest unit of language that can be inherited. A word can be suggestive, but a completed sentence can travel as a claim, an instruction, a promise, a permission, a warning, or a rule. Laws are built from sentences. Contracts are built from sentences. Medical advice, public policy, AI responses, refund approvals, safety instructions, and translation outputs all become actionable at sentence level. That is why completion matters. Once a sentence is complete, someone else can inherit it. They can believe it, obey it, challenge it, quote it, translate it, or build an action on top of it. If the sentence is wrong, premature, unsupported, or structurally ambiguous, that inherited action can be wrong as well. If completed sentences are the units people inherit, then important sentences should be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does not meet us in tokens. It meets us in completed sentences. Internally, an AI model may generate token by token. But human beings do not sign tokens. We do not approve medical advice token by token. We do not accept legal obligations token by token. We do not let an agent spend money, issue a refund, or grant permission because of isolated tokens. We inherit completed sentences. That creates a gap between how AI systems generate language and how humans live with language. The model may be fluent at the token level, but the human risk appears at the sentence level. A sentence like “Your refund has been approved” is not just a nice sequence of words. It settles a status. It may cause action. It may create expectation. If it is unsupported, it has done real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completed sentence lands somewhere. That landing is its address. By address, I do not mean topic. Two sentences can have the same topic and different addresses. I also do not mean meaning in the loose everyday sense. I mean the structural place where the sentence comes to rest after it has completed its act. The packet resolves sentence landings in a compact form: Remainder, Orientation, and Operator. That notation is not the main thing to sell in the room. The main thing is the idea that a completed sentence has dimensions. What remains after it lands? Where does attention resolve? What kind of structural work produced that landing? If those dimensions can be recovered consistently, then sentences can carry receipts.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similar sentences can have different addresses: “The door closed” and “The door is closed.” They use almost the same words. They involve the same object. They involve the same general condition. But no competent speaker treats them as identical. “The door closed” leaves an event. Something happened. There was a transition. The door moved from not-closed to closed. “The door is closed” leaves a state. Something now holds. The door stands in a closed condition. That difference matters in security, maintenance, legal records, AI planning, and agent instructions. Did an event occur, or is a condition currently true? This is the kind of distinction Settlement Gate tries to recover. The listener already knows the difference. The system is an attempt to make that recognition explicit enough to inspect and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A-packet slows the sentence down long enough for structure to become visible. That is its job. It is not the whole theory, and it is not there to impress anyone with complexity. It is a practical instrument for preventing the sentence from collapsing too quickly into topic, paraphrase, or surface grammar. The packet uses six questions. A1 asks what the sentence settles as its ordinary survivor. A2 asks what object, status, relation, or condition is governed. A3 asks what work the sentence performs. A4 asks where that settlement holds and what bounds it. A5 asks what shape remains after wrong emphasis is removed. A6 asks what tempting rival reading must be blocked. A6 is especially important because it stops the nearest wrong reading from taking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A1 to A6 is not the theory. It is the instrument that lets us see the theory. That distinction matters for this meeting because we are not trying to teach all fifty-four possible cells or turn Anthony into a technical reviewer in thirty minutes. The A-packet is simply the inspection method. It holds the sentence still long enough for its commitments to be seen. This is also what makes the project testable. One stage can build the A-packet from the sentence. Another stage can resolve the packet into an address. In the future, a human reviewer, a linguist, a translation expert, or another model could test whether the packet preserved enough structural information to recover the same landing. That gives us a pipeline: sentence, A-packet, resolver, address, receipt.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receipt is what remains when a sentence has shown its commitments. A receipt is not a summary. A summary tells us roughly what a sentence is about. A receipt tells us what the sentence has settled, what it governs, where it holds, and what rival reading has been blocked. Take the sentence: “Visitors may board the next ferry after ticket inspection.” A weak system might hear “may board” and treat it as permission. But the actual sentence gives conditional permission. Ticket inspection must be satisfied. The packet identifies a condition-to-permission structure and blocks the rival reading that boarding is unconditional. That is exactly the kind of receipt an AI agent would need before acting. The receipt might say: permission exists, but only after inspection; do not convert this into immediate permission.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successful translation should preserve the address, even when every word changes. This is one of the strongest and most testable ideas in the packet. If the address is structural, then it should not depend only on English wording. A faithful Irish translation, or Spanish translation, or Japanese translation, may change every surface feature and still preserve the same sentence landing. That gives us a new kind of translation test. Not the only test, of course. Native judgement, fluency, register, culture, and domain expertise still matter. But address preservation asks a different question: did the translation preserve the structural commitment of the original sentence? If it did, the source and translation should resolve to the same address. If it did not, then something has shifted. The value is that the claim becomes testable.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Galway packet, English and Irish sentence pairs resolve to the same structural landings. That is not a universal proof, and I should be careful not to overclaim it. But it is a strong local demonstration of the kind of test Settlement Gate makes possible. The packet gives five bilingual pressure tests. The English transport-plan sentence and its Irish equivalent land in the same address. The PorterShed hosting sentence and its Irish equivalent land together. The startup joining the accelerator, the heavy rain causing flooding, and the University of Galway researchers publishing an AI study also preserve their structural landings across English and Irish. The important point is not that five examples prove the theory. They do not. The important point is that the test is now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future I am imagining is simple: every important sentence carries a small audit label. It does not have to be visually complicated. It does not have to expose the entire machinery to every user. But behind the sentence, there would be a receipt: what was settled, what was governed, what condition remains, what rival reading was blocked, and what action is or is not licensed. That could matter for legal clauses, policy language, AI outputs, translation systems, public notices, customer support, medical instructions, and autonomous agents. Anywhere a sentence can cause action, a sentence can cause error. And if a sentence can cause error, it should be possible to inspect what it has made stand. For me, that is the commercial future of Settlement Gate: not replacing human judgement, but supporting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Anthony, I am not asking you to validate the whole theory today. I am asking you to help me take the next step safely. The next step is to protect the idea, identify the right first reviewers, pressure-test the translation and AI-audit claims, and explore whether Settlement Gate can become a commercially viable sentence-auditing tool without losing discovery status or commercial value. What I should not do yet is circulate the full mechanism widely, publish the packet openly, or casually hand the structure to people who might recognise the value before it is protected. What would be useful are introductions to the right IP advisor, a trusted AI or NLP reviewer, someone with translation validation expertise, a product-minded builder, and someone who understands early-stage commercialisation. A safe next step might be a small confidential review: one or two carefully chosen people, under appropriate protection, looking at the packet and testing whether the claims are technically, commercially, and defensibly worth pursuing.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BF7E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7EF"/>
        </a:solidFill>
      </p:bgPr>
    </p:bg>
    <p:spTree>
      <p:nvGrpSpPr>
        <p:cNvPr id="1" name=""/>
        <p:cNvGrpSpPr/>
        <p:nvPr/>
      </p:nvGrpSpPr>
      <p:grpSpPr>
        <a:xfrm>
          <a:off x="0" y="0"/>
          <a:ext cx="0" cy="0"/>
          <a:chOff x="0" y="0"/>
          <a:chExt cx="0" cy="0"/>
        </a:xfrm>
      </p:grpSpPr>
      <p:sp>
        <p:nvSpPr>
          <p:cNvPr id="2" name="Text 0"/>
          <p:cNvSpPr/>
          <p:nvPr/>
        </p:nvSpPr>
        <p:spPr>
          <a:xfrm>
            <a:off x="594360" y="310896"/>
            <a:ext cx="8046720" cy="320040"/>
          </a:xfrm>
          <a:prstGeom prst="rect">
            <a:avLst/>
          </a:prstGeom>
          <a:noFill/>
          <a:ln/>
        </p:spPr>
        <p:txBody>
          <a:bodyPr wrap="square" lIns="0" tIns="0" rIns="0" bIns="0" rtlCol="0" anchor="ctr"/>
          <a:lstStyle/>
          <a:p>
            <a:pPr indent="0" marL="0">
              <a:buNone/>
            </a:pPr>
            <a:r>
              <a:rPr lang="en-US" sz="2000" b="1" dirty="0">
                <a:solidFill>
                  <a:srgbClr val="2F7D73"/>
                </a:solidFill>
                <a:latin typeface="Aptos Display" pitchFamily="34" charset="0"/>
                <a:ea typeface="Aptos Display" pitchFamily="34" charset="-122"/>
                <a:cs typeface="Aptos Display" pitchFamily="34" charset="-120"/>
              </a:rPr>
              <a:t>The Ask to Anthony</a:t>
            </a:r>
            <a:endParaRPr lang="en-US" sz="2000" dirty="0"/>
          </a:p>
        </p:txBody>
      </p:sp>
      <p:sp>
        <p:nvSpPr>
          <p:cNvPr id="3" name="Text 1"/>
          <p:cNvSpPr/>
          <p:nvPr/>
        </p:nvSpPr>
        <p:spPr>
          <a:xfrm>
            <a:off x="11109960" y="329184"/>
            <a:ext cx="457200" cy="256032"/>
          </a:xfrm>
          <a:prstGeom prst="rect">
            <a:avLst/>
          </a:prstGeom>
          <a:noFill/>
          <a:ln/>
        </p:spPr>
        <p:txBody>
          <a:bodyPr wrap="square" lIns="0" tIns="0" rIns="0" bIns="0" rtlCol="0" anchor="ctr"/>
          <a:lstStyle/>
          <a:p>
            <a:pPr algn="r" indent="0" marL="0">
              <a:buNone/>
            </a:pPr>
            <a:r>
              <a:rPr lang="en-US" sz="900" dirty="0">
                <a:solidFill>
                  <a:srgbClr val="667085"/>
                </a:solidFill>
              </a:rPr>
              <a:t>00</a:t>
            </a:r>
            <a:endParaRPr lang="en-US" sz="900" dirty="0"/>
          </a:p>
        </p:txBody>
      </p:sp>
      <p:sp>
        <p:nvSpPr>
          <p:cNvPr id="4" name="Shape 2"/>
          <p:cNvSpPr/>
          <p:nvPr/>
        </p:nvSpPr>
        <p:spPr>
          <a:xfrm>
            <a:off x="594360" y="749808"/>
            <a:ext cx="11018520" cy="0"/>
          </a:xfrm>
          <a:prstGeom prst="line">
            <a:avLst/>
          </a:prstGeom>
          <a:noFill/>
          <a:ln w="7620">
            <a:solidFill>
              <a:srgbClr val="CDD5DF"/>
            </a:solidFill>
            <a:prstDash val="solid"/>
          </a:ln>
        </p:spPr>
      </p:sp>
      <p:sp>
        <p:nvSpPr>
          <p:cNvPr id="5" name="Text 3"/>
          <p:cNvSpPr/>
          <p:nvPr/>
        </p:nvSpPr>
        <p:spPr>
          <a:xfrm>
            <a:off x="731520" y="1143000"/>
            <a:ext cx="10744200" cy="914400"/>
          </a:xfrm>
          <a:prstGeom prst="rect">
            <a:avLst/>
          </a:prstGeom>
          <a:noFill/>
          <a:ln/>
        </p:spPr>
        <p:txBody>
          <a:bodyPr wrap="square" lIns="254" tIns="254" rIns="254" bIns="254" rtlCol="0" anchor="ctr">
            <a:normAutofit/>
          </a:bodyPr>
          <a:lstStyle/>
          <a:p>
            <a:pPr algn="ctr" indent="0" marL="0">
              <a:buNone/>
            </a:pPr>
            <a:r>
              <a:rPr lang="en-US" sz="3400" b="1" dirty="0">
                <a:solidFill>
                  <a:srgbClr val="1F2933"/>
                </a:solidFill>
                <a:latin typeface="Aptos Display" pitchFamily="34" charset="0"/>
                <a:ea typeface="Aptos Display" pitchFamily="34" charset="-122"/>
                <a:cs typeface="Aptos Display" pitchFamily="34" charset="-120"/>
              </a:rPr>
              <a:t>Help me protect, test, and commercialise this before it is exposed too widely.</a:t>
            </a:r>
            <a:endParaRPr lang="en-US" sz="3400" dirty="0"/>
          </a:p>
        </p:txBody>
      </p:sp>
      <p:sp>
        <p:nvSpPr>
          <p:cNvPr id="6" name="Shape 4"/>
          <p:cNvSpPr/>
          <p:nvPr/>
        </p:nvSpPr>
        <p:spPr>
          <a:xfrm>
            <a:off x="2057400" y="2743200"/>
            <a:ext cx="1828800" cy="594360"/>
          </a:xfrm>
          <a:prstGeom prst="roundRect">
            <a:avLst>
              <a:gd name="adj" fmla="val 18462"/>
            </a:avLst>
          </a:prstGeom>
          <a:solidFill>
            <a:srgbClr val="F1E5D0"/>
          </a:solidFill>
          <a:ln w="8890">
            <a:solidFill>
              <a:srgbClr val="2F7D73"/>
            </a:solidFill>
            <a:prstDash val="solid"/>
          </a:ln>
        </p:spPr>
      </p:sp>
      <p:sp>
        <p:nvSpPr>
          <p:cNvPr id="7" name="Text 5"/>
          <p:cNvSpPr/>
          <p:nvPr/>
        </p:nvSpPr>
        <p:spPr>
          <a:xfrm>
            <a:off x="2093976" y="2798064"/>
            <a:ext cx="1755648" cy="484632"/>
          </a:xfrm>
          <a:prstGeom prst="rect">
            <a:avLst/>
          </a:prstGeom>
          <a:noFill/>
          <a:ln/>
        </p:spPr>
        <p:txBody>
          <a:bodyPr wrap="square" lIns="762" tIns="762" rIns="762" bIns="762" rtlCol="0" anchor="ctr">
            <a:normAutofit/>
          </a:bodyPr>
          <a:lstStyle/>
          <a:p>
            <a:pPr algn="ctr" indent="0" marL="0">
              <a:buNone/>
            </a:pPr>
            <a:r>
              <a:rPr lang="en-US" sz="1800" b="1" dirty="0">
                <a:solidFill>
                  <a:srgbClr val="1F2933"/>
                </a:solidFill>
                <a:latin typeface="Aptos" pitchFamily="34" charset="0"/>
                <a:ea typeface="Aptos" pitchFamily="34" charset="-122"/>
                <a:cs typeface="Aptos" pitchFamily="34" charset="-120"/>
              </a:rPr>
              <a:t>Protect</a:t>
            </a:r>
            <a:endParaRPr lang="en-US" sz="1800" dirty="0"/>
          </a:p>
        </p:txBody>
      </p:sp>
      <p:sp>
        <p:nvSpPr>
          <p:cNvPr id="8" name="Shape 6"/>
          <p:cNvSpPr/>
          <p:nvPr/>
        </p:nvSpPr>
        <p:spPr>
          <a:xfrm>
            <a:off x="3959352" y="3044952"/>
            <a:ext cx="795528" cy="0"/>
          </a:xfrm>
          <a:prstGeom prst="line">
            <a:avLst/>
          </a:prstGeom>
          <a:noFill/>
          <a:ln w="19050">
            <a:solidFill>
              <a:srgbClr val="2F7D73"/>
            </a:solidFill>
            <a:prstDash val="solid"/>
            <a:headEnd type="none"/>
            <a:tailEnd type="triangle"/>
          </a:ln>
        </p:spPr>
      </p:sp>
      <p:sp>
        <p:nvSpPr>
          <p:cNvPr id="9" name="Shape 7"/>
          <p:cNvSpPr/>
          <p:nvPr/>
        </p:nvSpPr>
        <p:spPr>
          <a:xfrm>
            <a:off x="4892040" y="2743200"/>
            <a:ext cx="1828800" cy="594360"/>
          </a:xfrm>
          <a:prstGeom prst="roundRect">
            <a:avLst>
              <a:gd name="adj" fmla="val 18462"/>
            </a:avLst>
          </a:prstGeom>
          <a:solidFill>
            <a:srgbClr val="E7F1EE"/>
          </a:solidFill>
          <a:ln w="8890">
            <a:solidFill>
              <a:srgbClr val="2F7D73"/>
            </a:solidFill>
            <a:prstDash val="solid"/>
          </a:ln>
        </p:spPr>
      </p:sp>
      <p:sp>
        <p:nvSpPr>
          <p:cNvPr id="10" name="Text 8"/>
          <p:cNvSpPr/>
          <p:nvPr/>
        </p:nvSpPr>
        <p:spPr>
          <a:xfrm>
            <a:off x="4928616" y="2798064"/>
            <a:ext cx="1755648" cy="484632"/>
          </a:xfrm>
          <a:prstGeom prst="rect">
            <a:avLst/>
          </a:prstGeom>
          <a:noFill/>
          <a:ln/>
        </p:spPr>
        <p:txBody>
          <a:bodyPr wrap="square" lIns="762" tIns="762" rIns="762" bIns="762" rtlCol="0" anchor="ctr">
            <a:normAutofit/>
          </a:bodyPr>
          <a:lstStyle/>
          <a:p>
            <a:pPr algn="ctr" indent="0" marL="0">
              <a:buNone/>
            </a:pPr>
            <a:r>
              <a:rPr lang="en-US" sz="1800" b="1" dirty="0">
                <a:solidFill>
                  <a:srgbClr val="1F2933"/>
                </a:solidFill>
                <a:latin typeface="Aptos" pitchFamily="34" charset="0"/>
                <a:ea typeface="Aptos" pitchFamily="34" charset="-122"/>
                <a:cs typeface="Aptos" pitchFamily="34" charset="-120"/>
              </a:rPr>
              <a:t>Validate</a:t>
            </a:r>
            <a:endParaRPr lang="en-US" sz="1800" dirty="0"/>
          </a:p>
        </p:txBody>
      </p:sp>
      <p:sp>
        <p:nvSpPr>
          <p:cNvPr id="11" name="Shape 9"/>
          <p:cNvSpPr/>
          <p:nvPr/>
        </p:nvSpPr>
        <p:spPr>
          <a:xfrm>
            <a:off x="6793992" y="3044952"/>
            <a:ext cx="795528" cy="0"/>
          </a:xfrm>
          <a:prstGeom prst="line">
            <a:avLst/>
          </a:prstGeom>
          <a:noFill/>
          <a:ln w="19050">
            <a:solidFill>
              <a:srgbClr val="2F7D73"/>
            </a:solidFill>
            <a:prstDash val="solid"/>
            <a:headEnd type="none"/>
            <a:tailEnd type="triangle"/>
          </a:ln>
        </p:spPr>
      </p:sp>
      <p:sp>
        <p:nvSpPr>
          <p:cNvPr id="12" name="Shape 10"/>
          <p:cNvSpPr/>
          <p:nvPr/>
        </p:nvSpPr>
        <p:spPr>
          <a:xfrm>
            <a:off x="7726680" y="2743200"/>
            <a:ext cx="1828800" cy="594360"/>
          </a:xfrm>
          <a:prstGeom prst="roundRect">
            <a:avLst>
              <a:gd name="adj" fmla="val 18462"/>
            </a:avLst>
          </a:prstGeom>
          <a:solidFill>
            <a:srgbClr val="E7F1EE"/>
          </a:solidFill>
          <a:ln w="8890">
            <a:solidFill>
              <a:srgbClr val="2F7D73"/>
            </a:solidFill>
            <a:prstDash val="solid"/>
          </a:ln>
        </p:spPr>
      </p:sp>
      <p:sp>
        <p:nvSpPr>
          <p:cNvPr id="13" name="Text 11"/>
          <p:cNvSpPr/>
          <p:nvPr/>
        </p:nvSpPr>
        <p:spPr>
          <a:xfrm>
            <a:off x="7763256" y="2798064"/>
            <a:ext cx="1755648" cy="484632"/>
          </a:xfrm>
          <a:prstGeom prst="rect">
            <a:avLst/>
          </a:prstGeom>
          <a:noFill/>
          <a:ln/>
        </p:spPr>
        <p:txBody>
          <a:bodyPr wrap="square" lIns="762" tIns="762" rIns="762" bIns="762" rtlCol="0" anchor="ctr">
            <a:normAutofit/>
          </a:bodyPr>
          <a:lstStyle/>
          <a:p>
            <a:pPr algn="ctr" indent="0" marL="0">
              <a:buNone/>
            </a:pPr>
            <a:r>
              <a:rPr lang="en-US" sz="1800" b="1" dirty="0">
                <a:solidFill>
                  <a:srgbClr val="1F2933"/>
                </a:solidFill>
                <a:latin typeface="Aptos" pitchFamily="34" charset="0"/>
                <a:ea typeface="Aptos" pitchFamily="34" charset="-122"/>
                <a:cs typeface="Aptos" pitchFamily="34" charset="-120"/>
              </a:rPr>
              <a:t>Build</a:t>
            </a:r>
            <a:endParaRPr lang="en-US" sz="1800" dirty="0"/>
          </a:p>
        </p:txBody>
      </p:sp>
      <p:sp>
        <p:nvSpPr>
          <p:cNvPr id="14" name="Text 12"/>
          <p:cNvSpPr/>
          <p:nvPr/>
        </p:nvSpPr>
        <p:spPr>
          <a:xfrm>
            <a:off x="777240" y="3886200"/>
            <a:ext cx="6172200" cy="2560320"/>
          </a:xfrm>
          <a:prstGeom prst="rect">
            <a:avLst/>
          </a:prstGeom>
          <a:noFill/>
          <a:ln/>
        </p:spPr>
        <p:txBody>
          <a:bodyPr wrap="square" lIns="254" tIns="254" rIns="254" bIns="254" rtlCol="0" anchor="ctr">
            <a:normAutofit/>
          </a:bodyPr>
          <a:lstStyle/>
          <a:p>
            <a:r>
              <a:rPr lang="en-US" sz="1540" dirty="0">
                <a:solidFill>
                  <a:srgbClr val="1F2933"/>
                </a:solidFill>
              </a:rPr>
              <a:t>Core claim: completed sentences may have recoverable structural addresses.</a:t>
            </a:r>
            <a:endParaRPr lang="en-US" sz="1540" dirty="0"/>
          </a:p>
          <a:p>
            <a:r>
              <a:rPr lang="en-US" sz="1540" dirty="0">
                <a:solidFill>
                  <a:srgbClr val="1F2933"/>
                </a:solidFill>
              </a:rPr>
              <a:t>Faithful translations should preserve the same address.</a:t>
            </a:r>
            <a:endParaRPr lang="en-US" sz="1540" dirty="0"/>
          </a:p>
          <a:p>
            <a:r>
              <a:rPr lang="en-US" sz="1540" dirty="0">
                <a:solidFill>
                  <a:srgbClr val="1F2933"/>
                </a:solidFill>
              </a:rPr>
              <a:t>Possible use: sentence-auditing for AI, translation, legal text, policy, and agent instructions.</a:t>
            </a:r>
            <a:endParaRPr lang="en-US" sz="1540" dirty="0"/>
          </a:p>
          <a:p>
            <a:r>
              <a:rPr lang="en-US" sz="1540" dirty="0">
                <a:solidFill>
                  <a:srgbClr val="1F2933"/>
                </a:solidFill>
              </a:rPr>
              <a:t>Need: safe route through IP, validation, and commercial development.</a:t>
            </a:r>
            <a:endParaRPr lang="en-US" sz="1540" dirty="0"/>
          </a:p>
          <a:p>
            <a:r>
              <a:rPr lang="en-US" sz="1540" dirty="0">
                <a:solidFill>
                  <a:srgbClr val="1F2933"/>
                </a:solidFill>
              </a:rPr>
              <a:t>Not asking for belief today — asking for the right next step.</a:t>
            </a:r>
            <a:endParaRPr lang="en-US" sz="1540" dirty="0"/>
          </a:p>
        </p:txBody>
      </p:sp>
      <p:sp>
        <p:nvSpPr>
          <p:cNvPr id="15" name="Text 13"/>
          <p:cNvSpPr/>
          <p:nvPr/>
        </p:nvSpPr>
        <p:spPr>
          <a:xfrm>
            <a:off x="594360" y="6473952"/>
            <a:ext cx="1920240" cy="201168"/>
          </a:xfrm>
          <a:prstGeom prst="rect">
            <a:avLst/>
          </a:prstGeom>
          <a:noFill/>
          <a:ln/>
        </p:spPr>
        <p:txBody>
          <a:bodyPr wrap="square" lIns="0" tIns="0" rIns="0" bIns="0" rtlCol="0" anchor="ctr"/>
          <a:lstStyle/>
          <a:p>
            <a:pPr indent="0" marL="0">
              <a:buNone/>
            </a:pPr>
            <a:r>
              <a:rPr lang="en-US" sz="850" dirty="0">
                <a:solidFill>
                  <a:srgbClr val="667085"/>
                </a:solidFill>
              </a:rPr>
              <a:t>Settlement Gate</a:t>
            </a:r>
            <a:endParaRPr lang="en-US" sz="850" dirty="0"/>
          </a:p>
        </p:txBody>
      </p:sp>
      <p:sp>
        <p:nvSpPr>
          <p:cNvPr id="16" name="Text 14"/>
          <p:cNvSpPr/>
          <p:nvPr/>
        </p:nvSpPr>
        <p:spPr>
          <a:xfrm>
            <a:off x="9281160" y="6473952"/>
            <a:ext cx="2331720" cy="201168"/>
          </a:xfrm>
          <a:prstGeom prst="rect">
            <a:avLst/>
          </a:prstGeom>
          <a:noFill/>
          <a:ln/>
        </p:spPr>
        <p:txBody>
          <a:bodyPr wrap="square" lIns="0" tIns="0" rIns="0" bIns="0" rtlCol="0" anchor="ctr"/>
          <a:lstStyle/>
          <a:p>
            <a:pPr algn="r" indent="0" marL="0">
              <a:buNone/>
            </a:pPr>
            <a:r>
              <a:rPr lang="en-US" sz="850" dirty="0">
                <a:solidFill>
                  <a:srgbClr val="667085"/>
                </a:solidFill>
              </a:rPr>
              <a:t>Protect → Validate → Build</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EF"/>
        </a:solidFill>
      </p:bgPr>
    </p:bg>
    <p:spTree>
      <p:nvGrpSpPr>
        <p:cNvPr id="1" name=""/>
        <p:cNvGrpSpPr/>
        <p:nvPr/>
      </p:nvGrpSpPr>
      <p:grpSpPr>
        <a:xfrm>
          <a:off x="0" y="0"/>
          <a:ext cx="0" cy="0"/>
          <a:chOff x="0" y="0"/>
          <a:chExt cx="0" cy="0"/>
        </a:xfrm>
      </p:grpSpPr>
      <p:sp>
        <p:nvSpPr>
          <p:cNvPr id="2" name="Text 0"/>
          <p:cNvSpPr/>
          <p:nvPr/>
        </p:nvSpPr>
        <p:spPr>
          <a:xfrm>
            <a:off x="594360" y="310896"/>
            <a:ext cx="8046720" cy="320040"/>
          </a:xfrm>
          <a:prstGeom prst="rect">
            <a:avLst/>
          </a:prstGeom>
          <a:noFill/>
          <a:ln/>
        </p:spPr>
        <p:txBody>
          <a:bodyPr wrap="square" lIns="0" tIns="0" rIns="0" bIns="0" rtlCol="0" anchor="ctr"/>
          <a:lstStyle/>
          <a:p>
            <a:pPr indent="0" marL="0">
              <a:buNone/>
            </a:pPr>
            <a:r>
              <a:rPr lang="en-US" sz="2000" b="1" dirty="0">
                <a:solidFill>
                  <a:srgbClr val="2F7D73"/>
                </a:solidFill>
                <a:latin typeface="Aptos Display" pitchFamily="34" charset="0"/>
                <a:ea typeface="Aptos Display" pitchFamily="34" charset="-122"/>
                <a:cs typeface="Aptos Display" pitchFamily="34" charset="-120"/>
              </a:rPr>
              <a:t>Completion Comes Before Stopping</a:t>
            </a:r>
            <a:endParaRPr lang="en-US" sz="2000" dirty="0"/>
          </a:p>
        </p:txBody>
      </p:sp>
      <p:sp>
        <p:nvSpPr>
          <p:cNvPr id="3" name="Text 1"/>
          <p:cNvSpPr/>
          <p:nvPr/>
        </p:nvSpPr>
        <p:spPr>
          <a:xfrm>
            <a:off x="11109960" y="329184"/>
            <a:ext cx="457200" cy="256032"/>
          </a:xfrm>
          <a:prstGeom prst="rect">
            <a:avLst/>
          </a:prstGeom>
          <a:noFill/>
          <a:ln/>
        </p:spPr>
        <p:txBody>
          <a:bodyPr wrap="square" lIns="0" tIns="0" rIns="0" bIns="0" rtlCol="0" anchor="ctr"/>
          <a:lstStyle/>
          <a:p>
            <a:pPr algn="r" indent="0" marL="0">
              <a:buNone/>
            </a:pPr>
            <a:r>
              <a:rPr lang="en-US" sz="900" dirty="0">
                <a:solidFill>
                  <a:srgbClr val="667085"/>
                </a:solidFill>
              </a:rPr>
              <a:t>01</a:t>
            </a:r>
            <a:endParaRPr lang="en-US" sz="900" dirty="0"/>
          </a:p>
        </p:txBody>
      </p:sp>
      <p:sp>
        <p:nvSpPr>
          <p:cNvPr id="4" name="Shape 2"/>
          <p:cNvSpPr/>
          <p:nvPr/>
        </p:nvSpPr>
        <p:spPr>
          <a:xfrm>
            <a:off x="594360" y="749808"/>
            <a:ext cx="11018520" cy="0"/>
          </a:xfrm>
          <a:prstGeom prst="line">
            <a:avLst/>
          </a:prstGeom>
          <a:noFill/>
          <a:ln w="7620">
            <a:solidFill>
              <a:srgbClr val="CDD5DF"/>
            </a:solidFill>
            <a:prstDash val="solid"/>
          </a:ln>
        </p:spPr>
      </p:sp>
      <p:sp>
        <p:nvSpPr>
          <p:cNvPr id="5" name="Text 3"/>
          <p:cNvSpPr/>
          <p:nvPr/>
        </p:nvSpPr>
        <p:spPr>
          <a:xfrm>
            <a:off x="621792" y="1033272"/>
            <a:ext cx="6537960" cy="987552"/>
          </a:xfrm>
          <a:prstGeom prst="rect">
            <a:avLst/>
          </a:prstGeom>
          <a:noFill/>
          <a:ln/>
        </p:spPr>
        <p:txBody>
          <a:bodyPr wrap="square" lIns="254" tIns="254" rIns="254" bIns="254" rtlCol="0" anchor="ctr">
            <a:normAutofit/>
          </a:bodyPr>
          <a:lstStyle/>
          <a:p>
            <a:pPr indent="0" marL="0">
              <a:buNone/>
            </a:pPr>
            <a:r>
              <a:rPr lang="en-US" sz="2800" b="1" dirty="0">
                <a:solidFill>
                  <a:srgbClr val="1F2933"/>
                </a:solidFill>
                <a:latin typeface="Aptos Display" pitchFamily="34" charset="0"/>
                <a:ea typeface="Aptos Display" pitchFamily="34" charset="-122"/>
                <a:cs typeface="Aptos Display" pitchFamily="34" charset="-120"/>
              </a:rPr>
              <a:t>A sentence is not complete because it stops. It stops because it has become complete.</a:t>
            </a:r>
            <a:endParaRPr lang="en-US" sz="2800" dirty="0"/>
          </a:p>
        </p:txBody>
      </p:sp>
      <p:sp>
        <p:nvSpPr>
          <p:cNvPr id="6" name="Text 4"/>
          <p:cNvSpPr/>
          <p:nvPr/>
        </p:nvSpPr>
        <p:spPr>
          <a:xfrm>
            <a:off x="777240" y="2240280"/>
            <a:ext cx="6172200" cy="2560320"/>
          </a:xfrm>
          <a:prstGeom prst="rect">
            <a:avLst/>
          </a:prstGeom>
          <a:noFill/>
          <a:ln/>
        </p:spPr>
        <p:txBody>
          <a:bodyPr wrap="square" lIns="254" tIns="254" rIns="254" bIns="254" rtlCol="0" anchor="ctr">
            <a:normAutofit/>
          </a:bodyPr>
          <a:lstStyle/>
          <a:p>
            <a:r>
              <a:rPr lang="en-US" sz="1540" dirty="0">
                <a:solidFill>
                  <a:srgbClr val="1F2933"/>
                </a:solidFill>
              </a:rPr>
              <a:t>Completion is something we feel before we explain.</a:t>
            </a:r>
            <a:endParaRPr lang="en-US" sz="1540" dirty="0"/>
          </a:p>
          <a:p>
            <a:r>
              <a:rPr lang="en-US" sz="1540" dirty="0">
                <a:solidFill>
                  <a:srgbClr val="1F2933"/>
                </a:solidFill>
              </a:rPr>
              <a:t>A sentence “lands” before we analyse it.</a:t>
            </a:r>
            <a:endParaRPr lang="en-US" sz="1540" dirty="0"/>
          </a:p>
          <a:p>
            <a:r>
              <a:rPr lang="en-US" sz="1540" dirty="0">
                <a:solidFill>
                  <a:srgbClr val="1F2933"/>
                </a:solidFill>
              </a:rPr>
              <a:t>The project begins with that ordinary recognition.</a:t>
            </a:r>
            <a:endParaRPr lang="en-US" sz="1540" dirty="0"/>
          </a:p>
          <a:p>
            <a:r>
              <a:rPr lang="en-US" sz="1540" dirty="0">
                <a:solidFill>
                  <a:srgbClr val="1F2933"/>
                </a:solidFill>
              </a:rPr>
              <a:t>This is not yet proof — it is the phenomenon.</a:t>
            </a:r>
            <a:endParaRPr lang="en-US" sz="1540" dirty="0"/>
          </a:p>
        </p:txBody>
      </p:sp>
      <p:sp>
        <p:nvSpPr>
          <p:cNvPr id="7" name="Shape 5"/>
          <p:cNvSpPr/>
          <p:nvPr/>
        </p:nvSpPr>
        <p:spPr>
          <a:xfrm>
            <a:off x="7543800" y="3429000"/>
            <a:ext cx="2971800" cy="0"/>
          </a:xfrm>
          <a:prstGeom prst="line">
            <a:avLst/>
          </a:prstGeom>
          <a:noFill/>
          <a:ln w="19050">
            <a:solidFill>
              <a:srgbClr val="2F7D73"/>
            </a:solidFill>
            <a:prstDash val="solid"/>
            <a:headEnd type="none"/>
            <a:tailEnd type="triangle"/>
          </a:ln>
        </p:spPr>
      </p:sp>
      <p:sp>
        <p:nvSpPr>
          <p:cNvPr id="8" name="Shape 6"/>
          <p:cNvSpPr/>
          <p:nvPr/>
        </p:nvSpPr>
        <p:spPr>
          <a:xfrm>
            <a:off x="10607040" y="3182112"/>
            <a:ext cx="502920" cy="502920"/>
          </a:xfrm>
          <a:prstGeom prst="ellipse">
            <a:avLst/>
          </a:prstGeom>
          <a:solidFill>
            <a:srgbClr val="2F7D73"/>
          </a:solidFill>
          <a:ln w="12700">
            <a:solidFill>
              <a:srgbClr val="2F7D73"/>
            </a:solidFill>
            <a:prstDash val="solid"/>
          </a:ln>
        </p:spPr>
      </p:sp>
      <p:sp>
        <p:nvSpPr>
          <p:cNvPr id="9" name="Text 7"/>
          <p:cNvSpPr/>
          <p:nvPr/>
        </p:nvSpPr>
        <p:spPr>
          <a:xfrm>
            <a:off x="8229600" y="3913632"/>
            <a:ext cx="2377440" cy="320040"/>
          </a:xfrm>
          <a:prstGeom prst="rect">
            <a:avLst/>
          </a:prstGeom>
          <a:noFill/>
          <a:ln/>
        </p:spPr>
        <p:txBody>
          <a:bodyPr wrap="square" lIns="762" tIns="762" rIns="762" bIns="762" rtlCol="0" anchor="ctr">
            <a:normAutofit/>
          </a:bodyPr>
          <a:lstStyle/>
          <a:p>
            <a:pPr algn="ctr" indent="0" marL="0">
              <a:buNone/>
            </a:pPr>
            <a:r>
              <a:rPr lang="en-US" sz="1400" dirty="0">
                <a:solidFill>
                  <a:srgbClr val="667085"/>
                </a:solidFill>
                <a:latin typeface="Aptos" pitchFamily="34" charset="0"/>
                <a:ea typeface="Aptos" pitchFamily="34" charset="-122"/>
                <a:cs typeface="Aptos" pitchFamily="34" charset="-120"/>
              </a:rPr>
              <a:t>sentence lands</a:t>
            </a:r>
            <a:endParaRPr lang="en-US" sz="1400" dirty="0"/>
          </a:p>
        </p:txBody>
      </p:sp>
      <p:sp>
        <p:nvSpPr>
          <p:cNvPr id="10" name="Text 8"/>
          <p:cNvSpPr/>
          <p:nvPr/>
        </p:nvSpPr>
        <p:spPr>
          <a:xfrm>
            <a:off x="594360" y="6473952"/>
            <a:ext cx="1920240" cy="201168"/>
          </a:xfrm>
          <a:prstGeom prst="rect">
            <a:avLst/>
          </a:prstGeom>
          <a:noFill/>
          <a:ln/>
        </p:spPr>
        <p:txBody>
          <a:bodyPr wrap="square" lIns="0" tIns="0" rIns="0" bIns="0" rtlCol="0" anchor="ctr"/>
          <a:lstStyle/>
          <a:p>
            <a:pPr indent="0" marL="0">
              <a:buNone/>
            </a:pPr>
            <a:r>
              <a:rPr lang="en-US" sz="850" dirty="0">
                <a:solidFill>
                  <a:srgbClr val="667085"/>
                </a:solidFill>
              </a:rPr>
              <a:t>Settlement Gate</a:t>
            </a:r>
            <a:endParaRPr lang="en-US" sz="850" dirty="0"/>
          </a:p>
        </p:txBody>
      </p:sp>
      <p:sp>
        <p:nvSpPr>
          <p:cNvPr id="11" name="Text 9"/>
          <p:cNvSpPr/>
          <p:nvPr/>
        </p:nvSpPr>
        <p:spPr>
          <a:xfrm>
            <a:off x="9281160" y="6473952"/>
            <a:ext cx="2331720" cy="201168"/>
          </a:xfrm>
          <a:prstGeom prst="rect">
            <a:avLst/>
          </a:prstGeom>
          <a:noFill/>
          <a:ln/>
        </p:spPr>
        <p:txBody>
          <a:bodyPr wrap="square" lIns="0" tIns="0" rIns="0" bIns="0" rtlCol="0" anchor="ctr"/>
          <a:lstStyle/>
          <a:p>
            <a:pPr algn="r" indent="0" marL="0">
              <a:buNone/>
            </a:pPr>
            <a:r>
              <a:rPr lang="en-US" sz="850" dirty="0">
                <a:solidFill>
                  <a:srgbClr val="667085"/>
                </a:solidFill>
              </a:rPr>
              <a:t>Protect → Validate → Build</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7EF"/>
        </a:solidFill>
      </p:bgPr>
    </p:bg>
    <p:spTree>
      <p:nvGrpSpPr>
        <p:cNvPr id="1" name=""/>
        <p:cNvGrpSpPr/>
        <p:nvPr/>
      </p:nvGrpSpPr>
      <p:grpSpPr>
        <a:xfrm>
          <a:off x="0" y="0"/>
          <a:ext cx="0" cy="0"/>
          <a:chOff x="0" y="0"/>
          <a:chExt cx="0" cy="0"/>
        </a:xfrm>
      </p:grpSpPr>
      <p:sp>
        <p:nvSpPr>
          <p:cNvPr id="2" name="Text 0"/>
          <p:cNvSpPr/>
          <p:nvPr/>
        </p:nvSpPr>
        <p:spPr>
          <a:xfrm>
            <a:off x="594360" y="310896"/>
            <a:ext cx="8046720" cy="320040"/>
          </a:xfrm>
          <a:prstGeom prst="rect">
            <a:avLst/>
          </a:prstGeom>
          <a:noFill/>
          <a:ln/>
        </p:spPr>
        <p:txBody>
          <a:bodyPr wrap="square" lIns="0" tIns="0" rIns="0" bIns="0" rtlCol="0" anchor="ctr"/>
          <a:lstStyle/>
          <a:p>
            <a:pPr indent="0" marL="0">
              <a:buNone/>
            </a:pPr>
            <a:r>
              <a:rPr lang="en-US" sz="2000" b="1" dirty="0">
                <a:solidFill>
                  <a:srgbClr val="2F7D73"/>
                </a:solidFill>
                <a:latin typeface="Aptos Display" pitchFamily="34" charset="0"/>
                <a:ea typeface="Aptos Display" pitchFamily="34" charset="-122"/>
                <a:cs typeface="Aptos Display" pitchFamily="34" charset="-120"/>
              </a:rPr>
              <a:t>Broken Before Explained</a:t>
            </a:r>
            <a:endParaRPr lang="en-US" sz="2000" dirty="0"/>
          </a:p>
        </p:txBody>
      </p:sp>
      <p:sp>
        <p:nvSpPr>
          <p:cNvPr id="3" name="Text 1"/>
          <p:cNvSpPr/>
          <p:nvPr/>
        </p:nvSpPr>
        <p:spPr>
          <a:xfrm>
            <a:off x="11109960" y="329184"/>
            <a:ext cx="457200" cy="256032"/>
          </a:xfrm>
          <a:prstGeom prst="rect">
            <a:avLst/>
          </a:prstGeom>
          <a:noFill/>
          <a:ln/>
        </p:spPr>
        <p:txBody>
          <a:bodyPr wrap="square" lIns="0" tIns="0" rIns="0" bIns="0" rtlCol="0" anchor="ctr"/>
          <a:lstStyle/>
          <a:p>
            <a:pPr algn="r" indent="0" marL="0">
              <a:buNone/>
            </a:pPr>
            <a:r>
              <a:rPr lang="en-US" sz="900" dirty="0">
                <a:solidFill>
                  <a:srgbClr val="667085"/>
                </a:solidFill>
              </a:rPr>
              <a:t>02</a:t>
            </a:r>
            <a:endParaRPr lang="en-US" sz="900" dirty="0"/>
          </a:p>
        </p:txBody>
      </p:sp>
      <p:sp>
        <p:nvSpPr>
          <p:cNvPr id="4" name="Shape 2"/>
          <p:cNvSpPr/>
          <p:nvPr/>
        </p:nvSpPr>
        <p:spPr>
          <a:xfrm>
            <a:off x="594360" y="749808"/>
            <a:ext cx="11018520" cy="0"/>
          </a:xfrm>
          <a:prstGeom prst="line">
            <a:avLst/>
          </a:prstGeom>
          <a:noFill/>
          <a:ln w="7620">
            <a:solidFill>
              <a:srgbClr val="CDD5DF"/>
            </a:solidFill>
            <a:prstDash val="solid"/>
          </a:ln>
        </p:spPr>
      </p:sp>
      <p:sp>
        <p:nvSpPr>
          <p:cNvPr id="5" name="Text 3"/>
          <p:cNvSpPr/>
          <p:nvPr/>
        </p:nvSpPr>
        <p:spPr>
          <a:xfrm>
            <a:off x="621792" y="1033272"/>
            <a:ext cx="6537960" cy="987552"/>
          </a:xfrm>
          <a:prstGeom prst="rect">
            <a:avLst/>
          </a:prstGeom>
          <a:noFill/>
          <a:ln/>
        </p:spPr>
        <p:txBody>
          <a:bodyPr wrap="square" lIns="254" tIns="254" rIns="254" bIns="254" rtlCol="0" anchor="ctr">
            <a:normAutofit/>
          </a:bodyPr>
          <a:lstStyle/>
          <a:p>
            <a:pPr indent="0" marL="0">
              <a:buNone/>
            </a:pPr>
            <a:r>
              <a:rPr lang="en-US" sz="2800" b="1" dirty="0">
                <a:solidFill>
                  <a:srgbClr val="1F2933"/>
                </a:solidFill>
                <a:latin typeface="Aptos Display" pitchFamily="34" charset="0"/>
                <a:ea typeface="Aptos Display" pitchFamily="34" charset="-122"/>
                <a:cs typeface="Aptos Display" pitchFamily="34" charset="-120"/>
              </a:rPr>
              <a:t>You know a sentence is broken before you know why it is broken.</a:t>
            </a:r>
            <a:endParaRPr lang="en-US" sz="2800" dirty="0"/>
          </a:p>
        </p:txBody>
      </p:sp>
      <p:sp>
        <p:nvSpPr>
          <p:cNvPr id="6" name="Text 4"/>
          <p:cNvSpPr/>
          <p:nvPr/>
        </p:nvSpPr>
        <p:spPr>
          <a:xfrm>
            <a:off x="777240" y="2240280"/>
            <a:ext cx="6172200" cy="2560320"/>
          </a:xfrm>
          <a:prstGeom prst="rect">
            <a:avLst/>
          </a:prstGeom>
          <a:noFill/>
          <a:ln/>
        </p:spPr>
        <p:txBody>
          <a:bodyPr wrap="square" lIns="254" tIns="254" rIns="254" bIns="254" rtlCol="0" anchor="ctr">
            <a:normAutofit/>
          </a:bodyPr>
          <a:lstStyle/>
          <a:p>
            <a:r>
              <a:rPr lang="en-US" sz="1540" dirty="0">
                <a:solidFill>
                  <a:srgbClr val="1F2933"/>
                </a:solidFill>
              </a:rPr>
              <a:t>Human listeners detect failure instantly.</a:t>
            </a:r>
            <a:endParaRPr lang="en-US" sz="1540" dirty="0"/>
          </a:p>
          <a:p>
            <a:r>
              <a:rPr lang="en-US" sz="1540" dirty="0">
                <a:solidFill>
                  <a:srgbClr val="1F2933"/>
                </a:solidFill>
              </a:rPr>
              <a:t>The judgement arrives before grammar.</a:t>
            </a:r>
            <a:endParaRPr lang="en-US" sz="1540" dirty="0"/>
          </a:p>
          <a:p>
            <a:r>
              <a:rPr lang="en-US" sz="1540" dirty="0">
                <a:solidFill>
                  <a:srgbClr val="1F2933"/>
                </a:solidFill>
              </a:rPr>
              <a:t>This suggests completion is structural, not just semantic.</a:t>
            </a:r>
            <a:endParaRPr lang="en-US" sz="1540" dirty="0"/>
          </a:p>
          <a:p>
            <a:r>
              <a:rPr lang="en-US" sz="1540" dirty="0">
                <a:solidFill>
                  <a:srgbClr val="1F2933"/>
                </a:solidFill>
              </a:rPr>
              <a:t>The listener’s body often knows before the analyst does.</a:t>
            </a:r>
            <a:endParaRPr lang="en-US" sz="1540" dirty="0"/>
          </a:p>
        </p:txBody>
      </p:sp>
      <p:sp>
        <p:nvSpPr>
          <p:cNvPr id="7" name="Shape 5"/>
          <p:cNvSpPr/>
          <p:nvPr/>
        </p:nvSpPr>
        <p:spPr>
          <a:xfrm>
            <a:off x="7589520" y="3474720"/>
            <a:ext cx="1051560" cy="228600"/>
          </a:xfrm>
          <a:prstGeom prst="rect">
            <a:avLst/>
          </a:prstGeom>
          <a:solidFill>
            <a:srgbClr val="2F7D73"/>
          </a:solidFill>
          <a:ln w="12700">
            <a:solidFill>
              <a:srgbClr val="2F7D73"/>
            </a:solidFill>
            <a:prstDash val="solid"/>
          </a:ln>
        </p:spPr>
      </p:sp>
      <p:sp>
        <p:nvSpPr>
          <p:cNvPr id="8" name="Shape 6"/>
          <p:cNvSpPr/>
          <p:nvPr/>
        </p:nvSpPr>
        <p:spPr>
          <a:xfrm>
            <a:off x="10149840" y="3474720"/>
            <a:ext cx="1051560" cy="228600"/>
          </a:xfrm>
          <a:prstGeom prst="rect">
            <a:avLst/>
          </a:prstGeom>
          <a:solidFill>
            <a:srgbClr val="2F7D73"/>
          </a:solidFill>
          <a:ln w="12700">
            <a:solidFill>
              <a:srgbClr val="2F7D73"/>
            </a:solidFill>
            <a:prstDash val="solid"/>
          </a:ln>
        </p:spPr>
      </p:sp>
      <p:sp>
        <p:nvSpPr>
          <p:cNvPr id="9" name="Text 7"/>
          <p:cNvSpPr/>
          <p:nvPr/>
        </p:nvSpPr>
        <p:spPr>
          <a:xfrm>
            <a:off x="7818120" y="3977640"/>
            <a:ext cx="3017520" cy="411480"/>
          </a:xfrm>
          <a:prstGeom prst="rect">
            <a:avLst/>
          </a:prstGeom>
          <a:noFill/>
          <a:ln/>
        </p:spPr>
        <p:txBody>
          <a:bodyPr wrap="square" lIns="762" tIns="762" rIns="762" bIns="762" rtlCol="0" anchor="ctr">
            <a:normAutofit/>
          </a:bodyPr>
          <a:lstStyle/>
          <a:p>
            <a:pPr algn="ctr" indent="0" marL="0">
              <a:buNone/>
            </a:pPr>
            <a:r>
              <a:rPr lang="en-US" sz="1400" dirty="0">
                <a:solidFill>
                  <a:srgbClr val="667085"/>
                </a:solidFill>
                <a:latin typeface="Aptos" pitchFamily="34" charset="0"/>
                <a:ea typeface="Aptos" pitchFamily="34" charset="-122"/>
                <a:cs typeface="Aptos" pitchFamily="34" charset="-120"/>
              </a:rPr>
              <a:t>gap felt before explained</a:t>
            </a:r>
            <a:endParaRPr lang="en-US" sz="1400" dirty="0"/>
          </a:p>
        </p:txBody>
      </p:sp>
      <p:sp>
        <p:nvSpPr>
          <p:cNvPr id="10" name="Text 8"/>
          <p:cNvSpPr/>
          <p:nvPr/>
        </p:nvSpPr>
        <p:spPr>
          <a:xfrm>
            <a:off x="594360" y="6473952"/>
            <a:ext cx="1920240" cy="201168"/>
          </a:xfrm>
          <a:prstGeom prst="rect">
            <a:avLst/>
          </a:prstGeom>
          <a:noFill/>
          <a:ln/>
        </p:spPr>
        <p:txBody>
          <a:bodyPr wrap="square" lIns="0" tIns="0" rIns="0" bIns="0" rtlCol="0" anchor="ctr"/>
          <a:lstStyle/>
          <a:p>
            <a:pPr indent="0" marL="0">
              <a:buNone/>
            </a:pPr>
            <a:r>
              <a:rPr lang="en-US" sz="850" dirty="0">
                <a:solidFill>
                  <a:srgbClr val="667085"/>
                </a:solidFill>
              </a:rPr>
              <a:t>Settlement Gate</a:t>
            </a:r>
            <a:endParaRPr lang="en-US" sz="850" dirty="0"/>
          </a:p>
        </p:txBody>
      </p:sp>
      <p:sp>
        <p:nvSpPr>
          <p:cNvPr id="11" name="Text 9"/>
          <p:cNvSpPr/>
          <p:nvPr/>
        </p:nvSpPr>
        <p:spPr>
          <a:xfrm>
            <a:off x="9281160" y="6473952"/>
            <a:ext cx="2331720" cy="201168"/>
          </a:xfrm>
          <a:prstGeom prst="rect">
            <a:avLst/>
          </a:prstGeom>
          <a:noFill/>
          <a:ln/>
        </p:spPr>
        <p:txBody>
          <a:bodyPr wrap="square" lIns="0" tIns="0" rIns="0" bIns="0" rtlCol="0" anchor="ctr"/>
          <a:lstStyle/>
          <a:p>
            <a:pPr algn="r" indent="0" marL="0">
              <a:buNone/>
            </a:pPr>
            <a:r>
              <a:rPr lang="en-US" sz="850" dirty="0">
                <a:solidFill>
                  <a:srgbClr val="667085"/>
                </a:solidFill>
              </a:rPr>
              <a:t>Protect → Validate → Build</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EF"/>
        </a:solidFill>
      </p:bgPr>
    </p:bg>
    <p:spTree>
      <p:nvGrpSpPr>
        <p:cNvPr id="1" name=""/>
        <p:cNvGrpSpPr/>
        <p:nvPr/>
      </p:nvGrpSpPr>
      <p:grpSpPr>
        <a:xfrm>
          <a:off x="0" y="0"/>
          <a:ext cx="0" cy="0"/>
          <a:chOff x="0" y="0"/>
          <a:chExt cx="0" cy="0"/>
        </a:xfrm>
      </p:grpSpPr>
      <p:sp>
        <p:nvSpPr>
          <p:cNvPr id="2" name="Text 0"/>
          <p:cNvSpPr/>
          <p:nvPr/>
        </p:nvSpPr>
        <p:spPr>
          <a:xfrm>
            <a:off x="594360" y="310896"/>
            <a:ext cx="8046720" cy="320040"/>
          </a:xfrm>
          <a:prstGeom prst="rect">
            <a:avLst/>
          </a:prstGeom>
          <a:noFill/>
          <a:ln/>
        </p:spPr>
        <p:txBody>
          <a:bodyPr wrap="square" lIns="0" tIns="0" rIns="0" bIns="0" rtlCol="0" anchor="ctr"/>
          <a:lstStyle/>
          <a:p>
            <a:pPr indent="0" marL="0">
              <a:buNone/>
            </a:pPr>
            <a:r>
              <a:rPr lang="en-US" sz="2000" b="1" dirty="0">
                <a:solidFill>
                  <a:srgbClr val="2F7D73"/>
                </a:solidFill>
                <a:latin typeface="Aptos Display" pitchFamily="34" charset="0"/>
                <a:ea typeface="Aptos Display" pitchFamily="34" charset="-122"/>
                <a:cs typeface="Aptos Display" pitchFamily="34" charset="-120"/>
              </a:rPr>
              <a:t>Failure to Close</a:t>
            </a:r>
            <a:endParaRPr lang="en-US" sz="2000" dirty="0"/>
          </a:p>
        </p:txBody>
      </p:sp>
      <p:sp>
        <p:nvSpPr>
          <p:cNvPr id="3" name="Text 1"/>
          <p:cNvSpPr/>
          <p:nvPr/>
        </p:nvSpPr>
        <p:spPr>
          <a:xfrm>
            <a:off x="11109960" y="329184"/>
            <a:ext cx="457200" cy="256032"/>
          </a:xfrm>
          <a:prstGeom prst="rect">
            <a:avLst/>
          </a:prstGeom>
          <a:noFill/>
          <a:ln/>
        </p:spPr>
        <p:txBody>
          <a:bodyPr wrap="square" lIns="0" tIns="0" rIns="0" bIns="0" rtlCol="0" anchor="ctr"/>
          <a:lstStyle/>
          <a:p>
            <a:pPr algn="r" indent="0" marL="0">
              <a:buNone/>
            </a:pPr>
            <a:r>
              <a:rPr lang="en-US" sz="900" dirty="0">
                <a:solidFill>
                  <a:srgbClr val="667085"/>
                </a:solidFill>
              </a:rPr>
              <a:t>03</a:t>
            </a:r>
            <a:endParaRPr lang="en-US" sz="900" dirty="0"/>
          </a:p>
        </p:txBody>
      </p:sp>
      <p:sp>
        <p:nvSpPr>
          <p:cNvPr id="4" name="Shape 2"/>
          <p:cNvSpPr/>
          <p:nvPr/>
        </p:nvSpPr>
        <p:spPr>
          <a:xfrm>
            <a:off x="594360" y="749808"/>
            <a:ext cx="11018520" cy="0"/>
          </a:xfrm>
          <a:prstGeom prst="line">
            <a:avLst/>
          </a:prstGeom>
          <a:noFill/>
          <a:ln w="7620">
            <a:solidFill>
              <a:srgbClr val="CDD5DF"/>
            </a:solidFill>
            <a:prstDash val="solid"/>
          </a:ln>
        </p:spPr>
      </p:sp>
      <p:sp>
        <p:nvSpPr>
          <p:cNvPr id="5" name="Text 3"/>
          <p:cNvSpPr/>
          <p:nvPr/>
        </p:nvSpPr>
        <p:spPr>
          <a:xfrm>
            <a:off x="621792" y="1033272"/>
            <a:ext cx="6537960" cy="987552"/>
          </a:xfrm>
          <a:prstGeom prst="rect">
            <a:avLst/>
          </a:prstGeom>
          <a:noFill/>
          <a:ln/>
        </p:spPr>
        <p:txBody>
          <a:bodyPr wrap="square" lIns="254" tIns="254" rIns="254" bIns="254" rtlCol="0" anchor="ctr">
            <a:normAutofit/>
          </a:bodyPr>
          <a:lstStyle/>
          <a:p>
            <a:pPr indent="0" marL="0">
              <a:buNone/>
            </a:pPr>
            <a:r>
              <a:rPr lang="en-US" sz="2800" b="1" dirty="0">
                <a:solidFill>
                  <a:srgbClr val="1F2933"/>
                </a:solidFill>
                <a:latin typeface="Aptos Display" pitchFamily="34" charset="0"/>
                <a:ea typeface="Aptos Display" pitchFamily="34" charset="-122"/>
                <a:cs typeface="Aptos Display" pitchFamily="34" charset="-120"/>
              </a:rPr>
              <a:t>“Did you put the dog?” exposes the structure by failing to close.</a:t>
            </a:r>
            <a:endParaRPr lang="en-US" sz="2800" dirty="0"/>
          </a:p>
        </p:txBody>
      </p:sp>
      <p:sp>
        <p:nvSpPr>
          <p:cNvPr id="6" name="Text 4"/>
          <p:cNvSpPr/>
          <p:nvPr/>
        </p:nvSpPr>
        <p:spPr>
          <a:xfrm>
            <a:off x="777240" y="2240280"/>
            <a:ext cx="6172200" cy="2560320"/>
          </a:xfrm>
          <a:prstGeom prst="rect">
            <a:avLst/>
          </a:prstGeom>
          <a:noFill/>
          <a:ln/>
        </p:spPr>
        <p:txBody>
          <a:bodyPr wrap="square" lIns="254" tIns="254" rIns="254" bIns="254" rtlCol="0" anchor="ctr">
            <a:normAutofit/>
          </a:bodyPr>
          <a:lstStyle/>
          <a:p>
            <a:r>
              <a:rPr lang="en-US" sz="1540" dirty="0">
                <a:solidFill>
                  <a:srgbClr val="1F2933"/>
                </a:solidFill>
              </a:rPr>
              <a:t>The sentence creates a demand it does not satisfy.</a:t>
            </a:r>
            <a:endParaRPr lang="en-US" sz="1540" dirty="0"/>
          </a:p>
          <a:p>
            <a:r>
              <a:rPr lang="en-US" sz="1540" dirty="0">
                <a:solidFill>
                  <a:srgbClr val="1F2933"/>
                </a:solidFill>
              </a:rPr>
              <a:t>The listener waits for completion.</a:t>
            </a:r>
            <a:endParaRPr lang="en-US" sz="1540" dirty="0"/>
          </a:p>
          <a:p>
            <a:r>
              <a:rPr lang="en-US" sz="1540" dirty="0">
                <a:solidFill>
                  <a:srgbClr val="1F2933"/>
                </a:solidFill>
              </a:rPr>
              <a:t>The missing piece is felt as structural pressure.</a:t>
            </a:r>
            <a:endParaRPr lang="en-US" sz="1540" dirty="0"/>
          </a:p>
          <a:p>
            <a:r>
              <a:rPr lang="en-US" sz="1540" dirty="0">
                <a:solidFill>
                  <a:srgbClr val="1F2933"/>
                </a:solidFill>
              </a:rPr>
              <a:t>The system begins by noticing that pressure.</a:t>
            </a:r>
            <a:endParaRPr lang="en-US" sz="1540" dirty="0"/>
          </a:p>
        </p:txBody>
      </p:sp>
      <p:sp>
        <p:nvSpPr>
          <p:cNvPr id="7" name="Text 5"/>
          <p:cNvSpPr/>
          <p:nvPr/>
        </p:nvSpPr>
        <p:spPr>
          <a:xfrm>
            <a:off x="7498080" y="2697480"/>
            <a:ext cx="3749040" cy="1234440"/>
          </a:xfrm>
          <a:prstGeom prst="rect">
            <a:avLst/>
          </a:prstGeom>
          <a:noFill/>
          <a:ln/>
        </p:spPr>
        <p:txBody>
          <a:bodyPr wrap="square" lIns="762" tIns="762" rIns="762" bIns="762" rtlCol="0" anchor="ctr">
            <a:normAutofit/>
          </a:bodyPr>
          <a:lstStyle/>
          <a:p>
            <a:pPr algn="ctr" indent="0" marL="0">
              <a:buNone/>
            </a:pPr>
            <a:r>
              <a:rPr lang="en-US" sz="3000" b="1" dirty="0">
                <a:solidFill>
                  <a:srgbClr val="1F2933"/>
                </a:solidFill>
                <a:latin typeface="Aptos" pitchFamily="34" charset="0"/>
                <a:ea typeface="Aptos" pitchFamily="34" charset="-122"/>
                <a:cs typeface="Aptos" pitchFamily="34" charset="-120"/>
              </a:rPr>
              <a:t>“Did you put</a:t>
            </a:r>
            <a:endParaRPr lang="en-US" sz="3000" dirty="0"/>
          </a:p>
          <a:p>
            <a:pPr algn="ctr" indent="0" marL="0">
              <a:buNone/>
            </a:pPr>
            <a:r>
              <a:rPr lang="en-US" sz="3000" b="1" dirty="0">
                <a:solidFill>
                  <a:srgbClr val="1F2933"/>
                </a:solidFill>
                <a:latin typeface="Aptos" pitchFamily="34" charset="0"/>
                <a:ea typeface="Aptos" pitchFamily="34" charset="-122"/>
                <a:cs typeface="Aptos" pitchFamily="34" charset="-120"/>
              </a:rPr>
              <a:t>the dog ___ ?”</a:t>
            </a:r>
            <a:endParaRPr lang="en-US" sz="3000" dirty="0"/>
          </a:p>
        </p:txBody>
      </p:sp>
      <p:sp>
        <p:nvSpPr>
          <p:cNvPr id="8" name="Shape 6"/>
          <p:cNvSpPr/>
          <p:nvPr/>
        </p:nvSpPr>
        <p:spPr>
          <a:xfrm>
            <a:off x="9692640" y="3931920"/>
            <a:ext cx="960120" cy="0"/>
          </a:xfrm>
          <a:prstGeom prst="line">
            <a:avLst/>
          </a:prstGeom>
          <a:noFill/>
          <a:ln w="25400">
            <a:solidFill>
              <a:srgbClr val="9B2C2C"/>
            </a:solidFill>
            <a:prstDash val="solid"/>
          </a:ln>
        </p:spPr>
      </p:sp>
      <p:sp>
        <p:nvSpPr>
          <p:cNvPr id="9" name="Text 7"/>
          <p:cNvSpPr/>
          <p:nvPr/>
        </p:nvSpPr>
        <p:spPr>
          <a:xfrm>
            <a:off x="594360" y="6473952"/>
            <a:ext cx="1920240" cy="201168"/>
          </a:xfrm>
          <a:prstGeom prst="rect">
            <a:avLst/>
          </a:prstGeom>
          <a:noFill/>
          <a:ln/>
        </p:spPr>
        <p:txBody>
          <a:bodyPr wrap="square" lIns="0" tIns="0" rIns="0" bIns="0" rtlCol="0" anchor="ctr"/>
          <a:lstStyle/>
          <a:p>
            <a:pPr indent="0" marL="0">
              <a:buNone/>
            </a:pPr>
            <a:r>
              <a:rPr lang="en-US" sz="850" dirty="0">
                <a:solidFill>
                  <a:srgbClr val="667085"/>
                </a:solidFill>
              </a:rPr>
              <a:t>Settlement Gate</a:t>
            </a:r>
            <a:endParaRPr lang="en-US" sz="850" dirty="0"/>
          </a:p>
        </p:txBody>
      </p:sp>
      <p:sp>
        <p:nvSpPr>
          <p:cNvPr id="10" name="Text 8"/>
          <p:cNvSpPr/>
          <p:nvPr/>
        </p:nvSpPr>
        <p:spPr>
          <a:xfrm>
            <a:off x="9281160" y="6473952"/>
            <a:ext cx="2331720" cy="201168"/>
          </a:xfrm>
          <a:prstGeom prst="rect">
            <a:avLst/>
          </a:prstGeom>
          <a:noFill/>
          <a:ln/>
        </p:spPr>
        <p:txBody>
          <a:bodyPr wrap="square" lIns="0" tIns="0" rIns="0" bIns="0" rtlCol="0" anchor="ctr"/>
          <a:lstStyle/>
          <a:p>
            <a:pPr algn="r" indent="0" marL="0">
              <a:buNone/>
            </a:pPr>
            <a:r>
              <a:rPr lang="en-US" sz="850" dirty="0">
                <a:solidFill>
                  <a:srgbClr val="667085"/>
                </a:solidFill>
              </a:rPr>
              <a:t>Protect → Validate → Build</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EF"/>
        </a:solidFill>
      </p:bgPr>
    </p:bg>
    <p:spTree>
      <p:nvGrpSpPr>
        <p:cNvPr id="1" name=""/>
        <p:cNvGrpSpPr/>
        <p:nvPr/>
      </p:nvGrpSpPr>
      <p:grpSpPr>
        <a:xfrm>
          <a:off x="0" y="0"/>
          <a:ext cx="0" cy="0"/>
          <a:chOff x="0" y="0"/>
          <a:chExt cx="0" cy="0"/>
        </a:xfrm>
      </p:grpSpPr>
      <p:sp>
        <p:nvSpPr>
          <p:cNvPr id="2" name="Text 0"/>
          <p:cNvSpPr/>
          <p:nvPr/>
        </p:nvSpPr>
        <p:spPr>
          <a:xfrm>
            <a:off x="594360" y="310896"/>
            <a:ext cx="8046720" cy="320040"/>
          </a:xfrm>
          <a:prstGeom prst="rect">
            <a:avLst/>
          </a:prstGeom>
          <a:noFill/>
          <a:ln/>
        </p:spPr>
        <p:txBody>
          <a:bodyPr wrap="square" lIns="0" tIns="0" rIns="0" bIns="0" rtlCol="0" anchor="ctr"/>
          <a:lstStyle/>
          <a:p>
            <a:pPr indent="0" marL="0">
              <a:buNone/>
            </a:pPr>
            <a:r>
              <a:rPr lang="en-US" sz="2000" b="1" dirty="0">
                <a:solidFill>
                  <a:srgbClr val="2F7D73"/>
                </a:solidFill>
                <a:latin typeface="Aptos Display" pitchFamily="34" charset="0"/>
                <a:ea typeface="Aptos Display" pitchFamily="34" charset="-122"/>
                <a:cs typeface="Aptos Display" pitchFamily="34" charset="-120"/>
              </a:rPr>
              <a:t>Going Past Closure</a:t>
            </a:r>
            <a:endParaRPr lang="en-US" sz="2000" dirty="0"/>
          </a:p>
        </p:txBody>
      </p:sp>
      <p:sp>
        <p:nvSpPr>
          <p:cNvPr id="3" name="Text 1"/>
          <p:cNvSpPr/>
          <p:nvPr/>
        </p:nvSpPr>
        <p:spPr>
          <a:xfrm>
            <a:off x="11109960" y="329184"/>
            <a:ext cx="457200" cy="256032"/>
          </a:xfrm>
          <a:prstGeom prst="rect">
            <a:avLst/>
          </a:prstGeom>
          <a:noFill/>
          <a:ln/>
        </p:spPr>
        <p:txBody>
          <a:bodyPr wrap="square" lIns="0" tIns="0" rIns="0" bIns="0" rtlCol="0" anchor="ctr"/>
          <a:lstStyle/>
          <a:p>
            <a:pPr algn="r" indent="0" marL="0">
              <a:buNone/>
            </a:pPr>
            <a:r>
              <a:rPr lang="en-US" sz="900" dirty="0">
                <a:solidFill>
                  <a:srgbClr val="667085"/>
                </a:solidFill>
              </a:rPr>
              <a:t>04</a:t>
            </a:r>
            <a:endParaRPr lang="en-US" sz="900" dirty="0"/>
          </a:p>
        </p:txBody>
      </p:sp>
      <p:sp>
        <p:nvSpPr>
          <p:cNvPr id="4" name="Shape 2"/>
          <p:cNvSpPr/>
          <p:nvPr/>
        </p:nvSpPr>
        <p:spPr>
          <a:xfrm>
            <a:off x="594360" y="749808"/>
            <a:ext cx="11018520" cy="0"/>
          </a:xfrm>
          <a:prstGeom prst="line">
            <a:avLst/>
          </a:prstGeom>
          <a:noFill/>
          <a:ln w="7620">
            <a:solidFill>
              <a:srgbClr val="CDD5DF"/>
            </a:solidFill>
            <a:prstDash val="solid"/>
          </a:ln>
        </p:spPr>
      </p:sp>
      <p:sp>
        <p:nvSpPr>
          <p:cNvPr id="5" name="Text 3"/>
          <p:cNvSpPr/>
          <p:nvPr/>
        </p:nvSpPr>
        <p:spPr>
          <a:xfrm>
            <a:off x="621792" y="1033272"/>
            <a:ext cx="6537960" cy="987552"/>
          </a:xfrm>
          <a:prstGeom prst="rect">
            <a:avLst/>
          </a:prstGeom>
          <a:noFill/>
          <a:ln/>
        </p:spPr>
        <p:txBody>
          <a:bodyPr wrap="square" lIns="254" tIns="254" rIns="254" bIns="254" rtlCol="0" anchor="ctr">
            <a:normAutofit/>
          </a:bodyPr>
          <a:lstStyle/>
          <a:p>
            <a:pPr indent="0" marL="0">
              <a:buNone/>
            </a:pPr>
            <a:r>
              <a:rPr lang="en-US" sz="2800" b="1" dirty="0">
                <a:solidFill>
                  <a:srgbClr val="1F2933"/>
                </a:solidFill>
                <a:latin typeface="Aptos Display" pitchFamily="34" charset="0"/>
                <a:ea typeface="Aptos Display" pitchFamily="34" charset="-122"/>
                <a:cs typeface="Aptos Display" pitchFamily="34" charset="-120"/>
              </a:rPr>
              <a:t>“Did you put the dog out, milk?” exposes the structure by going past closure.</a:t>
            </a:r>
            <a:endParaRPr lang="en-US" sz="2800" dirty="0"/>
          </a:p>
        </p:txBody>
      </p:sp>
      <p:sp>
        <p:nvSpPr>
          <p:cNvPr id="6" name="Text 4"/>
          <p:cNvSpPr/>
          <p:nvPr/>
        </p:nvSpPr>
        <p:spPr>
          <a:xfrm>
            <a:off x="777240" y="2240280"/>
            <a:ext cx="6172200" cy="2560320"/>
          </a:xfrm>
          <a:prstGeom prst="rect">
            <a:avLst/>
          </a:prstGeom>
          <a:noFill/>
          <a:ln/>
        </p:spPr>
        <p:txBody>
          <a:bodyPr wrap="square" lIns="254" tIns="254" rIns="254" bIns="254" rtlCol="0" anchor="ctr">
            <a:normAutofit/>
          </a:bodyPr>
          <a:lstStyle/>
          <a:p>
            <a:r>
              <a:rPr lang="en-US" sz="1540" dirty="0">
                <a:solidFill>
                  <a:srgbClr val="1F2933"/>
                </a:solidFill>
              </a:rPr>
              <a:t>“Did you put the dog out?” has already landed.</a:t>
            </a:r>
            <a:endParaRPr lang="en-US" sz="1540" dirty="0"/>
          </a:p>
          <a:p>
            <a:r>
              <a:rPr lang="en-US" sz="1540" dirty="0">
                <a:solidFill>
                  <a:srgbClr val="1F2933"/>
                </a:solidFill>
              </a:rPr>
              <a:t>Adding “milk” violates the completed structure.</a:t>
            </a:r>
            <a:endParaRPr lang="en-US" sz="1540" dirty="0"/>
          </a:p>
          <a:p>
            <a:r>
              <a:rPr lang="en-US" sz="1540" dirty="0">
                <a:solidFill>
                  <a:srgbClr val="1F2933"/>
                </a:solidFill>
              </a:rPr>
              <a:t>This is the opposite of incompletion.</a:t>
            </a:r>
            <a:endParaRPr lang="en-US" sz="1540" dirty="0"/>
          </a:p>
          <a:p>
            <a:r>
              <a:rPr lang="en-US" sz="1540" dirty="0">
                <a:solidFill>
                  <a:srgbClr val="1F2933"/>
                </a:solidFill>
              </a:rPr>
              <a:t>Completion has a boundary.</a:t>
            </a:r>
            <a:endParaRPr lang="en-US" sz="1540" dirty="0"/>
          </a:p>
        </p:txBody>
      </p:sp>
      <p:sp>
        <p:nvSpPr>
          <p:cNvPr id="7" name="Text 5"/>
          <p:cNvSpPr/>
          <p:nvPr/>
        </p:nvSpPr>
        <p:spPr>
          <a:xfrm>
            <a:off x="7543800" y="2651760"/>
            <a:ext cx="2514600" cy="438912"/>
          </a:xfrm>
          <a:prstGeom prst="rect">
            <a:avLst/>
          </a:prstGeom>
          <a:noFill/>
          <a:ln/>
        </p:spPr>
        <p:txBody>
          <a:bodyPr wrap="square" lIns="762" tIns="762" rIns="762" bIns="762" rtlCol="0" anchor="ctr">
            <a:normAutofit/>
          </a:bodyPr>
          <a:lstStyle/>
          <a:p>
            <a:pPr algn="ctr" indent="0" marL="0">
              <a:buNone/>
            </a:pPr>
            <a:r>
              <a:rPr lang="en-US" sz="1800" b="1" dirty="0">
                <a:solidFill>
                  <a:srgbClr val="1F2933"/>
                </a:solidFill>
                <a:latin typeface="Aptos" pitchFamily="34" charset="0"/>
                <a:ea typeface="Aptos" pitchFamily="34" charset="-122"/>
                <a:cs typeface="Aptos" pitchFamily="34" charset="-120"/>
              </a:rPr>
              <a:t>Did you put the dog out?</a:t>
            </a:r>
            <a:endParaRPr lang="en-US" sz="1800" dirty="0"/>
          </a:p>
        </p:txBody>
      </p:sp>
      <p:sp>
        <p:nvSpPr>
          <p:cNvPr id="8" name="Shape 6"/>
          <p:cNvSpPr/>
          <p:nvPr/>
        </p:nvSpPr>
        <p:spPr>
          <a:xfrm>
            <a:off x="7772400" y="3246120"/>
            <a:ext cx="2240280" cy="0"/>
          </a:xfrm>
          <a:prstGeom prst="line">
            <a:avLst/>
          </a:prstGeom>
          <a:noFill/>
          <a:ln w="25400">
            <a:solidFill>
              <a:srgbClr val="2F7D73"/>
            </a:solidFill>
            <a:prstDash val="solid"/>
          </a:ln>
        </p:spPr>
      </p:sp>
      <p:sp>
        <p:nvSpPr>
          <p:cNvPr id="9" name="Text 7"/>
          <p:cNvSpPr/>
          <p:nvPr/>
        </p:nvSpPr>
        <p:spPr>
          <a:xfrm>
            <a:off x="10515600" y="3035808"/>
            <a:ext cx="822960" cy="411480"/>
          </a:xfrm>
          <a:prstGeom prst="rect">
            <a:avLst/>
          </a:prstGeom>
          <a:noFill/>
          <a:ln/>
        </p:spPr>
        <p:txBody>
          <a:bodyPr wrap="square" lIns="762" tIns="762" rIns="762" bIns="762" rtlCol="0" anchor="ctr">
            <a:normAutofit/>
          </a:bodyPr>
          <a:lstStyle/>
          <a:p>
            <a:pPr algn="ctr" indent="0" marL="0">
              <a:buNone/>
            </a:pPr>
            <a:r>
              <a:rPr lang="en-US" sz="2400" b="1" dirty="0">
                <a:solidFill>
                  <a:srgbClr val="9B2C2C"/>
                </a:solidFill>
                <a:latin typeface="Aptos" pitchFamily="34" charset="0"/>
                <a:ea typeface="Aptos" pitchFamily="34" charset="-122"/>
                <a:cs typeface="Aptos" pitchFamily="34" charset="-120"/>
              </a:rPr>
              <a:t>milk</a:t>
            </a:r>
            <a:endParaRPr lang="en-US" sz="2400" dirty="0"/>
          </a:p>
        </p:txBody>
      </p:sp>
      <p:sp>
        <p:nvSpPr>
          <p:cNvPr id="10" name="Text 8"/>
          <p:cNvSpPr/>
          <p:nvPr/>
        </p:nvSpPr>
        <p:spPr>
          <a:xfrm>
            <a:off x="7955280" y="3538728"/>
            <a:ext cx="2560320" cy="320040"/>
          </a:xfrm>
          <a:prstGeom prst="rect">
            <a:avLst/>
          </a:prstGeom>
          <a:noFill/>
          <a:ln/>
        </p:spPr>
        <p:txBody>
          <a:bodyPr wrap="square" lIns="762" tIns="762" rIns="762" bIns="762" rtlCol="0" anchor="ctr">
            <a:normAutofit/>
          </a:bodyPr>
          <a:lstStyle/>
          <a:p>
            <a:pPr algn="ctr" indent="0" marL="0">
              <a:buNone/>
            </a:pPr>
            <a:r>
              <a:rPr lang="en-US" sz="1300" dirty="0">
                <a:solidFill>
                  <a:srgbClr val="667085"/>
                </a:solidFill>
                <a:latin typeface="Aptos" pitchFamily="34" charset="0"/>
                <a:ea typeface="Aptos" pitchFamily="34" charset="-122"/>
                <a:cs typeface="Aptos" pitchFamily="34" charset="-120"/>
              </a:rPr>
              <a:t>after landing</a:t>
            </a:r>
            <a:endParaRPr lang="en-US" sz="1300" dirty="0"/>
          </a:p>
        </p:txBody>
      </p:sp>
      <p:sp>
        <p:nvSpPr>
          <p:cNvPr id="11" name="Text 9"/>
          <p:cNvSpPr/>
          <p:nvPr/>
        </p:nvSpPr>
        <p:spPr>
          <a:xfrm>
            <a:off x="594360" y="6473952"/>
            <a:ext cx="1920240" cy="201168"/>
          </a:xfrm>
          <a:prstGeom prst="rect">
            <a:avLst/>
          </a:prstGeom>
          <a:noFill/>
          <a:ln/>
        </p:spPr>
        <p:txBody>
          <a:bodyPr wrap="square" lIns="0" tIns="0" rIns="0" bIns="0" rtlCol="0" anchor="ctr"/>
          <a:lstStyle/>
          <a:p>
            <a:pPr indent="0" marL="0">
              <a:buNone/>
            </a:pPr>
            <a:r>
              <a:rPr lang="en-US" sz="850" dirty="0">
                <a:solidFill>
                  <a:srgbClr val="667085"/>
                </a:solidFill>
              </a:rPr>
              <a:t>Settlement Gate</a:t>
            </a:r>
            <a:endParaRPr lang="en-US" sz="850" dirty="0"/>
          </a:p>
        </p:txBody>
      </p:sp>
      <p:sp>
        <p:nvSpPr>
          <p:cNvPr id="12" name="Text 10"/>
          <p:cNvSpPr/>
          <p:nvPr/>
        </p:nvSpPr>
        <p:spPr>
          <a:xfrm>
            <a:off x="9281160" y="6473952"/>
            <a:ext cx="2331720" cy="201168"/>
          </a:xfrm>
          <a:prstGeom prst="rect">
            <a:avLst/>
          </a:prstGeom>
          <a:noFill/>
          <a:ln/>
        </p:spPr>
        <p:txBody>
          <a:bodyPr wrap="square" lIns="0" tIns="0" rIns="0" bIns="0" rtlCol="0" anchor="ctr"/>
          <a:lstStyle/>
          <a:p>
            <a:pPr algn="r" indent="0" marL="0">
              <a:buNone/>
            </a:pPr>
            <a:r>
              <a:rPr lang="en-US" sz="850" dirty="0">
                <a:solidFill>
                  <a:srgbClr val="667085"/>
                </a:solidFill>
              </a:rPr>
              <a:t>Protect → Validate → Build</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EF"/>
        </a:solidFill>
      </p:bgPr>
    </p:bg>
    <p:spTree>
      <p:nvGrpSpPr>
        <p:cNvPr id="1" name=""/>
        <p:cNvGrpSpPr/>
        <p:nvPr/>
      </p:nvGrpSpPr>
      <p:grpSpPr>
        <a:xfrm>
          <a:off x="0" y="0"/>
          <a:ext cx="0" cy="0"/>
          <a:chOff x="0" y="0"/>
          <a:chExt cx="0" cy="0"/>
        </a:xfrm>
      </p:grpSpPr>
      <p:sp>
        <p:nvSpPr>
          <p:cNvPr id="2" name="Text 0"/>
          <p:cNvSpPr/>
          <p:nvPr/>
        </p:nvSpPr>
        <p:spPr>
          <a:xfrm>
            <a:off x="594360" y="310896"/>
            <a:ext cx="8046720" cy="320040"/>
          </a:xfrm>
          <a:prstGeom prst="rect">
            <a:avLst/>
          </a:prstGeom>
          <a:noFill/>
          <a:ln/>
        </p:spPr>
        <p:txBody>
          <a:bodyPr wrap="square" lIns="0" tIns="0" rIns="0" bIns="0" rtlCol="0" anchor="ctr"/>
          <a:lstStyle/>
          <a:p>
            <a:pPr indent="0" marL="0">
              <a:buNone/>
            </a:pPr>
            <a:r>
              <a:rPr lang="en-US" sz="2000" b="1" dirty="0">
                <a:solidFill>
                  <a:srgbClr val="2F7D73"/>
                </a:solidFill>
                <a:latin typeface="Aptos Display" pitchFamily="34" charset="0"/>
                <a:ea typeface="Aptos Display" pitchFamily="34" charset="-122"/>
                <a:cs typeface="Aptos Display" pitchFamily="34" charset="-120"/>
              </a:rPr>
              <a:t>Meaning Hides the Machinery</a:t>
            </a:r>
            <a:endParaRPr lang="en-US" sz="2000" dirty="0"/>
          </a:p>
        </p:txBody>
      </p:sp>
      <p:sp>
        <p:nvSpPr>
          <p:cNvPr id="3" name="Text 1"/>
          <p:cNvSpPr/>
          <p:nvPr/>
        </p:nvSpPr>
        <p:spPr>
          <a:xfrm>
            <a:off x="11109960" y="329184"/>
            <a:ext cx="457200" cy="256032"/>
          </a:xfrm>
          <a:prstGeom prst="rect">
            <a:avLst/>
          </a:prstGeom>
          <a:noFill/>
          <a:ln/>
        </p:spPr>
        <p:txBody>
          <a:bodyPr wrap="square" lIns="0" tIns="0" rIns="0" bIns="0" rtlCol="0" anchor="ctr"/>
          <a:lstStyle/>
          <a:p>
            <a:pPr algn="r" indent="0" marL="0">
              <a:buNone/>
            </a:pPr>
            <a:r>
              <a:rPr lang="en-US" sz="900" dirty="0">
                <a:solidFill>
                  <a:srgbClr val="667085"/>
                </a:solidFill>
              </a:rPr>
              <a:t>05</a:t>
            </a:r>
            <a:endParaRPr lang="en-US" sz="900" dirty="0"/>
          </a:p>
        </p:txBody>
      </p:sp>
      <p:sp>
        <p:nvSpPr>
          <p:cNvPr id="4" name="Shape 2"/>
          <p:cNvSpPr/>
          <p:nvPr/>
        </p:nvSpPr>
        <p:spPr>
          <a:xfrm>
            <a:off x="594360" y="749808"/>
            <a:ext cx="11018520" cy="0"/>
          </a:xfrm>
          <a:prstGeom prst="line">
            <a:avLst/>
          </a:prstGeom>
          <a:noFill/>
          <a:ln w="7620">
            <a:solidFill>
              <a:srgbClr val="CDD5DF"/>
            </a:solidFill>
            <a:prstDash val="solid"/>
          </a:ln>
        </p:spPr>
      </p:sp>
      <p:sp>
        <p:nvSpPr>
          <p:cNvPr id="5" name="Text 3"/>
          <p:cNvSpPr/>
          <p:nvPr/>
        </p:nvSpPr>
        <p:spPr>
          <a:xfrm>
            <a:off x="621792" y="1033272"/>
            <a:ext cx="6537960" cy="987552"/>
          </a:xfrm>
          <a:prstGeom prst="rect">
            <a:avLst/>
          </a:prstGeom>
          <a:noFill/>
          <a:ln/>
        </p:spPr>
        <p:txBody>
          <a:bodyPr wrap="square" lIns="254" tIns="254" rIns="254" bIns="254" rtlCol="0" anchor="ctr">
            <a:normAutofit/>
          </a:bodyPr>
          <a:lstStyle/>
          <a:p>
            <a:pPr indent="0" marL="0">
              <a:buNone/>
            </a:pPr>
            <a:r>
              <a:rPr lang="en-US" sz="2800" b="1" dirty="0">
                <a:solidFill>
                  <a:srgbClr val="1F2933"/>
                </a:solidFill>
                <a:latin typeface="Aptos Display" pitchFamily="34" charset="0"/>
                <a:ea typeface="Aptos Display" pitchFamily="34" charset="-122"/>
                <a:cs typeface="Aptos Display" pitchFamily="34" charset="-120"/>
              </a:rPr>
              <a:t>Meaning is so successful that it hides the machinery that produced it.</a:t>
            </a:r>
            <a:endParaRPr lang="en-US" sz="2800" dirty="0"/>
          </a:p>
        </p:txBody>
      </p:sp>
      <p:sp>
        <p:nvSpPr>
          <p:cNvPr id="6" name="Text 4"/>
          <p:cNvSpPr/>
          <p:nvPr/>
        </p:nvSpPr>
        <p:spPr>
          <a:xfrm>
            <a:off x="777240" y="2240280"/>
            <a:ext cx="6172200" cy="2560320"/>
          </a:xfrm>
          <a:prstGeom prst="rect">
            <a:avLst/>
          </a:prstGeom>
          <a:noFill/>
          <a:ln/>
        </p:spPr>
        <p:txBody>
          <a:bodyPr wrap="square" lIns="254" tIns="254" rIns="254" bIns="254" rtlCol="0" anchor="ctr">
            <a:normAutofit/>
          </a:bodyPr>
          <a:lstStyle/>
          <a:p>
            <a:r>
              <a:rPr lang="en-US" sz="1540" dirty="0">
                <a:solidFill>
                  <a:srgbClr val="1F2933"/>
                </a:solidFill>
              </a:rPr>
              <a:t>We usually notice meaning, not settlement.</a:t>
            </a:r>
            <a:endParaRPr lang="en-US" sz="1540" dirty="0"/>
          </a:p>
          <a:p>
            <a:r>
              <a:rPr lang="en-US" sz="1540" dirty="0">
                <a:solidFill>
                  <a:srgbClr val="1F2933"/>
                </a:solidFill>
              </a:rPr>
              <a:t>Fluent language can conceal structural commitments.</a:t>
            </a:r>
            <a:endParaRPr lang="en-US" sz="1540" dirty="0"/>
          </a:p>
          <a:p>
            <a:r>
              <a:rPr lang="en-US" sz="1540" dirty="0">
                <a:solidFill>
                  <a:srgbClr val="1F2933"/>
                </a:solidFill>
              </a:rPr>
              <a:t>AI fluency makes this more urgent.</a:t>
            </a:r>
            <a:endParaRPr lang="en-US" sz="1540" dirty="0"/>
          </a:p>
          <a:p>
            <a:r>
              <a:rPr lang="en-US" sz="1540" dirty="0">
                <a:solidFill>
                  <a:srgbClr val="1F2933"/>
                </a:solidFill>
              </a:rPr>
              <a:t>The question becomes: what did the sentence actually settle?</a:t>
            </a:r>
            <a:endParaRPr lang="en-US" sz="1540" dirty="0"/>
          </a:p>
        </p:txBody>
      </p:sp>
      <p:sp>
        <p:nvSpPr>
          <p:cNvPr id="7" name="Shape 5"/>
          <p:cNvSpPr/>
          <p:nvPr/>
        </p:nvSpPr>
        <p:spPr>
          <a:xfrm>
            <a:off x="7909560" y="2011680"/>
            <a:ext cx="2834640" cy="1325880"/>
          </a:xfrm>
          <a:prstGeom prst="rect">
            <a:avLst/>
          </a:prstGeom>
          <a:solidFill>
            <a:srgbClr val="FFFFFF"/>
          </a:solidFill>
          <a:ln w="12700">
            <a:solidFill>
              <a:srgbClr val="CDD5DF"/>
            </a:solidFill>
            <a:prstDash val="solid"/>
          </a:ln>
        </p:spPr>
      </p:sp>
      <p:sp>
        <p:nvSpPr>
          <p:cNvPr id="8" name="Text 6"/>
          <p:cNvSpPr/>
          <p:nvPr/>
        </p:nvSpPr>
        <p:spPr>
          <a:xfrm>
            <a:off x="8321040" y="2423160"/>
            <a:ext cx="2011680" cy="347472"/>
          </a:xfrm>
          <a:prstGeom prst="rect">
            <a:avLst/>
          </a:prstGeom>
          <a:noFill/>
          <a:ln/>
        </p:spPr>
        <p:txBody>
          <a:bodyPr wrap="square" lIns="762" tIns="762" rIns="762" bIns="762" rtlCol="0" anchor="ctr">
            <a:normAutofit/>
          </a:bodyPr>
          <a:lstStyle/>
          <a:p>
            <a:pPr algn="ctr" indent="0" marL="0">
              <a:buNone/>
            </a:pPr>
            <a:r>
              <a:rPr lang="en-US" sz="2400" b="1" dirty="0">
                <a:solidFill>
                  <a:srgbClr val="1F2933"/>
                </a:solidFill>
                <a:latin typeface="Aptos" pitchFamily="34" charset="0"/>
                <a:ea typeface="Aptos" pitchFamily="34" charset="-122"/>
                <a:cs typeface="Aptos" pitchFamily="34" charset="-120"/>
              </a:rPr>
              <a:t>meaning</a:t>
            </a:r>
            <a:endParaRPr lang="en-US" sz="2400" dirty="0"/>
          </a:p>
        </p:txBody>
      </p:sp>
      <p:sp>
        <p:nvSpPr>
          <p:cNvPr id="9" name="Shape 7"/>
          <p:cNvSpPr/>
          <p:nvPr/>
        </p:nvSpPr>
        <p:spPr>
          <a:xfrm>
            <a:off x="8321040" y="3840480"/>
            <a:ext cx="1920240" cy="0"/>
          </a:xfrm>
          <a:prstGeom prst="line">
            <a:avLst/>
          </a:prstGeom>
          <a:noFill/>
          <a:ln w="25400">
            <a:solidFill>
              <a:srgbClr val="B7791F"/>
            </a:solidFill>
            <a:prstDash val="solid"/>
          </a:ln>
        </p:spPr>
      </p:sp>
      <p:sp>
        <p:nvSpPr>
          <p:cNvPr id="10" name="Text 8"/>
          <p:cNvSpPr/>
          <p:nvPr/>
        </p:nvSpPr>
        <p:spPr>
          <a:xfrm>
            <a:off x="8366760" y="4069080"/>
            <a:ext cx="2011680" cy="292608"/>
          </a:xfrm>
          <a:prstGeom prst="rect">
            <a:avLst/>
          </a:prstGeom>
          <a:noFill/>
          <a:ln/>
        </p:spPr>
        <p:txBody>
          <a:bodyPr wrap="square" lIns="762" tIns="762" rIns="762" bIns="762" rtlCol="0" anchor="ctr">
            <a:normAutofit/>
          </a:bodyPr>
          <a:lstStyle/>
          <a:p>
            <a:pPr algn="ctr" indent="0" marL="0">
              <a:buNone/>
            </a:pPr>
            <a:r>
              <a:rPr lang="en-US" sz="1300" dirty="0">
                <a:solidFill>
                  <a:srgbClr val="667085"/>
                </a:solidFill>
                <a:latin typeface="Aptos" pitchFamily="34" charset="0"/>
                <a:ea typeface="Aptos" pitchFamily="34" charset="-122"/>
                <a:cs typeface="Aptos" pitchFamily="34" charset="-120"/>
              </a:rPr>
              <a:t>hidden wiring</a:t>
            </a:r>
            <a:endParaRPr lang="en-US" sz="1300" dirty="0"/>
          </a:p>
        </p:txBody>
      </p:sp>
      <p:sp>
        <p:nvSpPr>
          <p:cNvPr id="11" name="Text 9"/>
          <p:cNvSpPr/>
          <p:nvPr/>
        </p:nvSpPr>
        <p:spPr>
          <a:xfrm>
            <a:off x="594360" y="6473952"/>
            <a:ext cx="1920240" cy="201168"/>
          </a:xfrm>
          <a:prstGeom prst="rect">
            <a:avLst/>
          </a:prstGeom>
          <a:noFill/>
          <a:ln/>
        </p:spPr>
        <p:txBody>
          <a:bodyPr wrap="square" lIns="0" tIns="0" rIns="0" bIns="0" rtlCol="0" anchor="ctr"/>
          <a:lstStyle/>
          <a:p>
            <a:pPr indent="0" marL="0">
              <a:buNone/>
            </a:pPr>
            <a:r>
              <a:rPr lang="en-US" sz="850" dirty="0">
                <a:solidFill>
                  <a:srgbClr val="667085"/>
                </a:solidFill>
              </a:rPr>
              <a:t>Settlement Gate</a:t>
            </a:r>
            <a:endParaRPr lang="en-US" sz="850" dirty="0"/>
          </a:p>
        </p:txBody>
      </p:sp>
      <p:sp>
        <p:nvSpPr>
          <p:cNvPr id="12" name="Text 10"/>
          <p:cNvSpPr/>
          <p:nvPr/>
        </p:nvSpPr>
        <p:spPr>
          <a:xfrm>
            <a:off x="9281160" y="6473952"/>
            <a:ext cx="2331720" cy="201168"/>
          </a:xfrm>
          <a:prstGeom prst="rect">
            <a:avLst/>
          </a:prstGeom>
          <a:noFill/>
          <a:ln/>
        </p:spPr>
        <p:txBody>
          <a:bodyPr wrap="square" lIns="0" tIns="0" rIns="0" bIns="0" rtlCol="0" anchor="ctr"/>
          <a:lstStyle/>
          <a:p>
            <a:pPr algn="r" indent="0" marL="0">
              <a:buNone/>
            </a:pPr>
            <a:r>
              <a:rPr lang="en-US" sz="850" dirty="0">
                <a:solidFill>
                  <a:srgbClr val="667085"/>
                </a:solidFill>
              </a:rPr>
              <a:t>Protect → Validate → Build</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EF"/>
        </a:solidFill>
      </p:bgPr>
    </p:bg>
    <p:spTree>
      <p:nvGrpSpPr>
        <p:cNvPr id="1" name=""/>
        <p:cNvGrpSpPr/>
        <p:nvPr/>
      </p:nvGrpSpPr>
      <p:grpSpPr>
        <a:xfrm>
          <a:off x="0" y="0"/>
          <a:ext cx="0" cy="0"/>
          <a:chOff x="0" y="0"/>
          <a:chExt cx="0" cy="0"/>
        </a:xfrm>
      </p:grpSpPr>
      <p:sp>
        <p:nvSpPr>
          <p:cNvPr id="2" name="Text 0"/>
          <p:cNvSpPr/>
          <p:nvPr/>
        </p:nvSpPr>
        <p:spPr>
          <a:xfrm>
            <a:off x="594360" y="310896"/>
            <a:ext cx="8046720" cy="320040"/>
          </a:xfrm>
          <a:prstGeom prst="rect">
            <a:avLst/>
          </a:prstGeom>
          <a:noFill/>
          <a:ln/>
        </p:spPr>
        <p:txBody>
          <a:bodyPr wrap="square" lIns="0" tIns="0" rIns="0" bIns="0" rtlCol="0" anchor="ctr"/>
          <a:lstStyle/>
          <a:p>
            <a:pPr indent="0" marL="0">
              <a:buNone/>
            </a:pPr>
            <a:r>
              <a:rPr lang="en-US" sz="2000" b="1" dirty="0">
                <a:solidFill>
                  <a:srgbClr val="2F7D73"/>
                </a:solidFill>
                <a:latin typeface="Aptos Display" pitchFamily="34" charset="0"/>
                <a:ea typeface="Aptos Display" pitchFamily="34" charset="-122"/>
                <a:cs typeface="Aptos Display" pitchFamily="34" charset="-120"/>
              </a:rPr>
              <a:t>The Smallest Inheritable Whole</a:t>
            </a:r>
            <a:endParaRPr lang="en-US" sz="2000" dirty="0"/>
          </a:p>
        </p:txBody>
      </p:sp>
      <p:sp>
        <p:nvSpPr>
          <p:cNvPr id="3" name="Text 1"/>
          <p:cNvSpPr/>
          <p:nvPr/>
        </p:nvSpPr>
        <p:spPr>
          <a:xfrm>
            <a:off x="11109960" y="329184"/>
            <a:ext cx="457200" cy="256032"/>
          </a:xfrm>
          <a:prstGeom prst="rect">
            <a:avLst/>
          </a:prstGeom>
          <a:noFill/>
          <a:ln/>
        </p:spPr>
        <p:txBody>
          <a:bodyPr wrap="square" lIns="0" tIns="0" rIns="0" bIns="0" rtlCol="0" anchor="ctr"/>
          <a:lstStyle/>
          <a:p>
            <a:pPr algn="r" indent="0" marL="0">
              <a:buNone/>
            </a:pPr>
            <a:r>
              <a:rPr lang="en-US" sz="900" dirty="0">
                <a:solidFill>
                  <a:srgbClr val="667085"/>
                </a:solidFill>
              </a:rPr>
              <a:t>06</a:t>
            </a:r>
            <a:endParaRPr lang="en-US" sz="900" dirty="0"/>
          </a:p>
        </p:txBody>
      </p:sp>
      <p:sp>
        <p:nvSpPr>
          <p:cNvPr id="4" name="Shape 2"/>
          <p:cNvSpPr/>
          <p:nvPr/>
        </p:nvSpPr>
        <p:spPr>
          <a:xfrm>
            <a:off x="594360" y="749808"/>
            <a:ext cx="11018520" cy="0"/>
          </a:xfrm>
          <a:prstGeom prst="line">
            <a:avLst/>
          </a:prstGeom>
          <a:noFill/>
          <a:ln w="7620">
            <a:solidFill>
              <a:srgbClr val="CDD5DF"/>
            </a:solidFill>
            <a:prstDash val="solid"/>
          </a:ln>
        </p:spPr>
      </p:sp>
      <p:sp>
        <p:nvSpPr>
          <p:cNvPr id="5" name="Text 3"/>
          <p:cNvSpPr/>
          <p:nvPr/>
        </p:nvSpPr>
        <p:spPr>
          <a:xfrm>
            <a:off x="621792" y="1033272"/>
            <a:ext cx="6537960" cy="987552"/>
          </a:xfrm>
          <a:prstGeom prst="rect">
            <a:avLst/>
          </a:prstGeom>
          <a:noFill/>
          <a:ln/>
        </p:spPr>
        <p:txBody>
          <a:bodyPr wrap="square" lIns="254" tIns="254" rIns="254" bIns="254" rtlCol="0" anchor="ctr">
            <a:normAutofit/>
          </a:bodyPr>
          <a:lstStyle/>
          <a:p>
            <a:pPr indent="0" marL="0">
              <a:buNone/>
            </a:pPr>
            <a:r>
              <a:rPr lang="en-US" sz="2800" b="1" dirty="0">
                <a:solidFill>
                  <a:srgbClr val="1F2933"/>
                </a:solidFill>
                <a:latin typeface="Aptos Display" pitchFamily="34" charset="0"/>
                <a:ea typeface="Aptos Display" pitchFamily="34" charset="-122"/>
                <a:cs typeface="Aptos Display" pitchFamily="34" charset="-120"/>
              </a:rPr>
              <a:t>The sentence is the smallest unit of language that can be inherited.</a:t>
            </a:r>
            <a:endParaRPr lang="en-US" sz="2800" dirty="0"/>
          </a:p>
        </p:txBody>
      </p:sp>
      <p:sp>
        <p:nvSpPr>
          <p:cNvPr id="6" name="Text 4"/>
          <p:cNvSpPr/>
          <p:nvPr/>
        </p:nvSpPr>
        <p:spPr>
          <a:xfrm>
            <a:off x="777240" y="2240280"/>
            <a:ext cx="6172200" cy="2560320"/>
          </a:xfrm>
          <a:prstGeom prst="rect">
            <a:avLst/>
          </a:prstGeom>
          <a:noFill/>
          <a:ln/>
        </p:spPr>
        <p:txBody>
          <a:bodyPr wrap="square" lIns="254" tIns="254" rIns="254" bIns="254" rtlCol="0" anchor="ctr">
            <a:normAutofit/>
          </a:bodyPr>
          <a:lstStyle/>
          <a:p>
            <a:r>
              <a:rPr lang="en-US" sz="1540" dirty="0">
                <a:solidFill>
                  <a:srgbClr val="1F2933"/>
                </a:solidFill>
              </a:rPr>
              <a:t>A completed sentence can travel between minds.</a:t>
            </a:r>
            <a:endParaRPr lang="en-US" sz="1540" dirty="0"/>
          </a:p>
          <a:p>
            <a:r>
              <a:rPr lang="en-US" sz="1540" dirty="0">
                <a:solidFill>
                  <a:srgbClr val="1F2933"/>
                </a:solidFill>
              </a:rPr>
              <a:t>Laws, instructions, promises, and claims move as sentences.</a:t>
            </a:r>
            <a:endParaRPr lang="en-US" sz="1540" dirty="0"/>
          </a:p>
          <a:p>
            <a:r>
              <a:rPr lang="en-US" sz="1540" dirty="0">
                <a:solidFill>
                  <a:srgbClr val="1F2933"/>
                </a:solidFill>
              </a:rPr>
              <a:t>Once inherited, a sentence can govern action.</a:t>
            </a:r>
            <a:endParaRPr lang="en-US" sz="1540" dirty="0"/>
          </a:p>
          <a:p>
            <a:r>
              <a:rPr lang="en-US" sz="1540" dirty="0">
                <a:solidFill>
                  <a:srgbClr val="1F2933"/>
                </a:solidFill>
              </a:rPr>
              <a:t>That makes completion auditable.</a:t>
            </a:r>
            <a:endParaRPr lang="en-US" sz="1540" dirty="0"/>
          </a:p>
        </p:txBody>
      </p:sp>
      <p:sp>
        <p:nvSpPr>
          <p:cNvPr id="7" name="Shape 5"/>
          <p:cNvSpPr/>
          <p:nvPr/>
        </p:nvSpPr>
        <p:spPr>
          <a:xfrm>
            <a:off x="7589520" y="3017520"/>
            <a:ext cx="777240" cy="502920"/>
          </a:xfrm>
          <a:prstGeom prst="roundRect">
            <a:avLst>
              <a:gd name="adj" fmla="val 21818"/>
            </a:avLst>
          </a:prstGeom>
          <a:solidFill>
            <a:srgbClr val="E7F1EE"/>
          </a:solidFill>
          <a:ln w="8890">
            <a:solidFill>
              <a:srgbClr val="2F7D73"/>
            </a:solidFill>
            <a:prstDash val="solid"/>
          </a:ln>
        </p:spPr>
      </p:sp>
      <p:sp>
        <p:nvSpPr>
          <p:cNvPr id="8" name="Text 6"/>
          <p:cNvSpPr/>
          <p:nvPr/>
        </p:nvSpPr>
        <p:spPr>
          <a:xfrm>
            <a:off x="7626096" y="3072384"/>
            <a:ext cx="704088" cy="393192"/>
          </a:xfrm>
          <a:prstGeom prst="rect">
            <a:avLst/>
          </a:prstGeom>
          <a:noFill/>
          <a:ln/>
        </p:spPr>
        <p:txBody>
          <a:bodyPr wrap="square" lIns="762" tIns="762" rIns="762" bIns="762" rtlCol="0" anchor="ctr">
            <a:normAutofit/>
          </a:bodyPr>
          <a:lstStyle/>
          <a:p>
            <a:pPr algn="ctr" indent="0" marL="0">
              <a:buNone/>
            </a:pPr>
            <a:r>
              <a:rPr lang="en-US" sz="1050" b="1" dirty="0">
                <a:solidFill>
                  <a:srgbClr val="1F2933"/>
                </a:solidFill>
                <a:latin typeface="Aptos" pitchFamily="34" charset="0"/>
                <a:ea typeface="Aptos" pitchFamily="34" charset="-122"/>
                <a:cs typeface="Aptos" pitchFamily="34" charset="-120"/>
              </a:rPr>
              <a:t>Speaker</a:t>
            </a:r>
            <a:endParaRPr lang="en-US" sz="1050" dirty="0"/>
          </a:p>
        </p:txBody>
      </p:sp>
      <p:sp>
        <p:nvSpPr>
          <p:cNvPr id="9" name="Shape 7"/>
          <p:cNvSpPr/>
          <p:nvPr/>
        </p:nvSpPr>
        <p:spPr>
          <a:xfrm>
            <a:off x="8412480" y="3273552"/>
            <a:ext cx="228600" cy="0"/>
          </a:xfrm>
          <a:prstGeom prst="line">
            <a:avLst/>
          </a:prstGeom>
          <a:noFill/>
          <a:ln w="19050">
            <a:solidFill>
              <a:srgbClr val="2F7D73"/>
            </a:solidFill>
            <a:prstDash val="solid"/>
            <a:headEnd type="none"/>
            <a:tailEnd type="triangle"/>
          </a:ln>
        </p:spPr>
      </p:sp>
      <p:sp>
        <p:nvSpPr>
          <p:cNvPr id="10" name="Shape 8"/>
          <p:cNvSpPr/>
          <p:nvPr/>
        </p:nvSpPr>
        <p:spPr>
          <a:xfrm>
            <a:off x="8686800" y="3017520"/>
            <a:ext cx="868680" cy="502920"/>
          </a:xfrm>
          <a:prstGeom prst="roundRect">
            <a:avLst>
              <a:gd name="adj" fmla="val 21818"/>
            </a:avLst>
          </a:prstGeom>
          <a:solidFill>
            <a:srgbClr val="E7F1EE"/>
          </a:solidFill>
          <a:ln w="8890">
            <a:solidFill>
              <a:srgbClr val="2F7D73"/>
            </a:solidFill>
            <a:prstDash val="solid"/>
          </a:ln>
        </p:spPr>
      </p:sp>
      <p:sp>
        <p:nvSpPr>
          <p:cNvPr id="11" name="Text 9"/>
          <p:cNvSpPr/>
          <p:nvPr/>
        </p:nvSpPr>
        <p:spPr>
          <a:xfrm>
            <a:off x="8723376" y="3072384"/>
            <a:ext cx="795528" cy="393192"/>
          </a:xfrm>
          <a:prstGeom prst="rect">
            <a:avLst/>
          </a:prstGeom>
          <a:noFill/>
          <a:ln/>
        </p:spPr>
        <p:txBody>
          <a:bodyPr wrap="square" lIns="762" tIns="762" rIns="762" bIns="762" rtlCol="0" anchor="ctr">
            <a:normAutofit/>
          </a:bodyPr>
          <a:lstStyle/>
          <a:p>
            <a:pPr algn="ctr" indent="0" marL="0">
              <a:buNone/>
            </a:pPr>
            <a:r>
              <a:rPr lang="en-US" sz="1050" b="1" dirty="0">
                <a:solidFill>
                  <a:srgbClr val="1F2933"/>
                </a:solidFill>
                <a:latin typeface="Aptos" pitchFamily="34" charset="0"/>
                <a:ea typeface="Aptos" pitchFamily="34" charset="-122"/>
                <a:cs typeface="Aptos" pitchFamily="34" charset="-120"/>
              </a:rPr>
              <a:t>Sentence</a:t>
            </a:r>
            <a:endParaRPr lang="en-US" sz="1050" dirty="0"/>
          </a:p>
        </p:txBody>
      </p:sp>
      <p:sp>
        <p:nvSpPr>
          <p:cNvPr id="12" name="Shape 10"/>
          <p:cNvSpPr/>
          <p:nvPr/>
        </p:nvSpPr>
        <p:spPr>
          <a:xfrm>
            <a:off x="9601200" y="3273552"/>
            <a:ext cx="137160" cy="0"/>
          </a:xfrm>
          <a:prstGeom prst="line">
            <a:avLst/>
          </a:prstGeom>
          <a:noFill/>
          <a:ln w="19050">
            <a:solidFill>
              <a:srgbClr val="2F7D73"/>
            </a:solidFill>
            <a:prstDash val="solid"/>
            <a:headEnd type="none"/>
            <a:tailEnd type="triangle"/>
          </a:ln>
        </p:spPr>
      </p:sp>
      <p:sp>
        <p:nvSpPr>
          <p:cNvPr id="13" name="Shape 11"/>
          <p:cNvSpPr/>
          <p:nvPr/>
        </p:nvSpPr>
        <p:spPr>
          <a:xfrm>
            <a:off x="9784080" y="3017520"/>
            <a:ext cx="777240" cy="502920"/>
          </a:xfrm>
          <a:prstGeom prst="roundRect">
            <a:avLst>
              <a:gd name="adj" fmla="val 21818"/>
            </a:avLst>
          </a:prstGeom>
          <a:solidFill>
            <a:srgbClr val="E7F1EE"/>
          </a:solidFill>
          <a:ln w="8890">
            <a:solidFill>
              <a:srgbClr val="2F7D73"/>
            </a:solidFill>
            <a:prstDash val="solid"/>
          </a:ln>
        </p:spPr>
      </p:sp>
      <p:sp>
        <p:nvSpPr>
          <p:cNvPr id="14" name="Text 12"/>
          <p:cNvSpPr/>
          <p:nvPr/>
        </p:nvSpPr>
        <p:spPr>
          <a:xfrm>
            <a:off x="9820656" y="3072384"/>
            <a:ext cx="704088" cy="393192"/>
          </a:xfrm>
          <a:prstGeom prst="rect">
            <a:avLst/>
          </a:prstGeom>
          <a:noFill/>
          <a:ln/>
        </p:spPr>
        <p:txBody>
          <a:bodyPr wrap="square" lIns="762" tIns="762" rIns="762" bIns="762" rtlCol="0" anchor="ctr">
            <a:normAutofit/>
          </a:bodyPr>
          <a:lstStyle/>
          <a:p>
            <a:pPr algn="ctr" indent="0" marL="0">
              <a:buNone/>
            </a:pPr>
            <a:r>
              <a:rPr lang="en-US" sz="1050" b="1" dirty="0">
                <a:solidFill>
                  <a:srgbClr val="1F2933"/>
                </a:solidFill>
                <a:latin typeface="Aptos" pitchFamily="34" charset="0"/>
                <a:ea typeface="Aptos" pitchFamily="34" charset="-122"/>
                <a:cs typeface="Aptos" pitchFamily="34" charset="-120"/>
              </a:rPr>
              <a:t>Listener</a:t>
            </a:r>
            <a:endParaRPr lang="en-US" sz="1050" dirty="0"/>
          </a:p>
        </p:txBody>
      </p:sp>
      <p:sp>
        <p:nvSpPr>
          <p:cNvPr id="15" name="Shape 13"/>
          <p:cNvSpPr/>
          <p:nvPr/>
        </p:nvSpPr>
        <p:spPr>
          <a:xfrm>
            <a:off x="10607040" y="3273552"/>
            <a:ext cx="45720" cy="0"/>
          </a:xfrm>
          <a:prstGeom prst="line">
            <a:avLst/>
          </a:prstGeom>
          <a:noFill/>
          <a:ln w="19050">
            <a:solidFill>
              <a:srgbClr val="2F7D73"/>
            </a:solidFill>
            <a:prstDash val="solid"/>
            <a:headEnd type="none"/>
            <a:tailEnd type="triangle"/>
          </a:ln>
        </p:spPr>
      </p:sp>
      <p:sp>
        <p:nvSpPr>
          <p:cNvPr id="16" name="Shape 14"/>
          <p:cNvSpPr/>
          <p:nvPr/>
        </p:nvSpPr>
        <p:spPr>
          <a:xfrm>
            <a:off x="10698480" y="3017520"/>
            <a:ext cx="777240" cy="502920"/>
          </a:xfrm>
          <a:prstGeom prst="roundRect">
            <a:avLst>
              <a:gd name="adj" fmla="val 21818"/>
            </a:avLst>
          </a:prstGeom>
          <a:solidFill>
            <a:srgbClr val="E7F1EE"/>
          </a:solidFill>
          <a:ln w="8890">
            <a:solidFill>
              <a:srgbClr val="2F7D73"/>
            </a:solidFill>
            <a:prstDash val="solid"/>
          </a:ln>
        </p:spPr>
      </p:sp>
      <p:sp>
        <p:nvSpPr>
          <p:cNvPr id="17" name="Text 15"/>
          <p:cNvSpPr/>
          <p:nvPr/>
        </p:nvSpPr>
        <p:spPr>
          <a:xfrm>
            <a:off x="10735056" y="3072384"/>
            <a:ext cx="704088" cy="393192"/>
          </a:xfrm>
          <a:prstGeom prst="rect">
            <a:avLst/>
          </a:prstGeom>
          <a:noFill/>
          <a:ln/>
        </p:spPr>
        <p:txBody>
          <a:bodyPr wrap="square" lIns="762" tIns="762" rIns="762" bIns="762" rtlCol="0" anchor="ctr">
            <a:normAutofit/>
          </a:bodyPr>
          <a:lstStyle/>
          <a:p>
            <a:pPr algn="ctr" indent="0" marL="0">
              <a:buNone/>
            </a:pPr>
            <a:r>
              <a:rPr lang="en-US" sz="1050" b="1" dirty="0">
                <a:solidFill>
                  <a:srgbClr val="1F2933"/>
                </a:solidFill>
                <a:latin typeface="Aptos" pitchFamily="34" charset="0"/>
                <a:ea typeface="Aptos" pitchFamily="34" charset="-122"/>
                <a:cs typeface="Aptos" pitchFamily="34" charset="-120"/>
              </a:rPr>
              <a:t>Action</a:t>
            </a:r>
            <a:endParaRPr lang="en-US" sz="1050" dirty="0"/>
          </a:p>
        </p:txBody>
      </p:sp>
      <p:sp>
        <p:nvSpPr>
          <p:cNvPr id="18" name="Text 16"/>
          <p:cNvSpPr/>
          <p:nvPr/>
        </p:nvSpPr>
        <p:spPr>
          <a:xfrm>
            <a:off x="594360" y="6473952"/>
            <a:ext cx="1920240" cy="201168"/>
          </a:xfrm>
          <a:prstGeom prst="rect">
            <a:avLst/>
          </a:prstGeom>
          <a:noFill/>
          <a:ln/>
        </p:spPr>
        <p:txBody>
          <a:bodyPr wrap="square" lIns="0" tIns="0" rIns="0" bIns="0" rtlCol="0" anchor="ctr"/>
          <a:lstStyle/>
          <a:p>
            <a:pPr indent="0" marL="0">
              <a:buNone/>
            </a:pPr>
            <a:r>
              <a:rPr lang="en-US" sz="850" dirty="0">
                <a:solidFill>
                  <a:srgbClr val="667085"/>
                </a:solidFill>
              </a:rPr>
              <a:t>Settlement Gate</a:t>
            </a:r>
            <a:endParaRPr lang="en-US" sz="850" dirty="0"/>
          </a:p>
        </p:txBody>
      </p:sp>
      <p:sp>
        <p:nvSpPr>
          <p:cNvPr id="19" name="Text 17"/>
          <p:cNvSpPr/>
          <p:nvPr/>
        </p:nvSpPr>
        <p:spPr>
          <a:xfrm>
            <a:off x="9281160" y="6473952"/>
            <a:ext cx="2331720" cy="201168"/>
          </a:xfrm>
          <a:prstGeom prst="rect">
            <a:avLst/>
          </a:prstGeom>
          <a:noFill/>
          <a:ln/>
        </p:spPr>
        <p:txBody>
          <a:bodyPr wrap="square" lIns="0" tIns="0" rIns="0" bIns="0" rtlCol="0" anchor="ctr"/>
          <a:lstStyle/>
          <a:p>
            <a:pPr algn="r" indent="0" marL="0">
              <a:buNone/>
            </a:pPr>
            <a:r>
              <a:rPr lang="en-US" sz="850" dirty="0">
                <a:solidFill>
                  <a:srgbClr val="667085"/>
                </a:solidFill>
              </a:rPr>
              <a:t>Protect → Validate → Build</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EF"/>
        </a:solidFill>
      </p:bgPr>
    </p:bg>
    <p:spTree>
      <p:nvGrpSpPr>
        <p:cNvPr id="1" name=""/>
        <p:cNvGrpSpPr/>
        <p:nvPr/>
      </p:nvGrpSpPr>
      <p:grpSpPr>
        <a:xfrm>
          <a:off x="0" y="0"/>
          <a:ext cx="0" cy="0"/>
          <a:chOff x="0" y="0"/>
          <a:chExt cx="0" cy="0"/>
        </a:xfrm>
      </p:grpSpPr>
      <p:sp>
        <p:nvSpPr>
          <p:cNvPr id="2" name="Text 0"/>
          <p:cNvSpPr/>
          <p:nvPr/>
        </p:nvSpPr>
        <p:spPr>
          <a:xfrm>
            <a:off x="594360" y="310896"/>
            <a:ext cx="8046720" cy="320040"/>
          </a:xfrm>
          <a:prstGeom prst="rect">
            <a:avLst/>
          </a:prstGeom>
          <a:noFill/>
          <a:ln/>
        </p:spPr>
        <p:txBody>
          <a:bodyPr wrap="square" lIns="0" tIns="0" rIns="0" bIns="0" rtlCol="0" anchor="ctr"/>
          <a:lstStyle/>
          <a:p>
            <a:pPr indent="0" marL="0">
              <a:buNone/>
            </a:pPr>
            <a:r>
              <a:rPr lang="en-US" sz="2000" b="1" dirty="0">
                <a:solidFill>
                  <a:srgbClr val="2F7D73"/>
                </a:solidFill>
                <a:latin typeface="Aptos Display" pitchFamily="34" charset="0"/>
                <a:ea typeface="Aptos Display" pitchFamily="34" charset="-122"/>
                <a:cs typeface="Aptos Display" pitchFamily="34" charset="-120"/>
              </a:rPr>
              <a:t>AI Meets Us in Sentences</a:t>
            </a:r>
            <a:endParaRPr lang="en-US" sz="2000" dirty="0"/>
          </a:p>
        </p:txBody>
      </p:sp>
      <p:sp>
        <p:nvSpPr>
          <p:cNvPr id="3" name="Text 1"/>
          <p:cNvSpPr/>
          <p:nvPr/>
        </p:nvSpPr>
        <p:spPr>
          <a:xfrm>
            <a:off x="11109960" y="329184"/>
            <a:ext cx="457200" cy="256032"/>
          </a:xfrm>
          <a:prstGeom prst="rect">
            <a:avLst/>
          </a:prstGeom>
          <a:noFill/>
          <a:ln/>
        </p:spPr>
        <p:txBody>
          <a:bodyPr wrap="square" lIns="0" tIns="0" rIns="0" bIns="0" rtlCol="0" anchor="ctr"/>
          <a:lstStyle/>
          <a:p>
            <a:pPr algn="r" indent="0" marL="0">
              <a:buNone/>
            </a:pPr>
            <a:r>
              <a:rPr lang="en-US" sz="900" dirty="0">
                <a:solidFill>
                  <a:srgbClr val="667085"/>
                </a:solidFill>
              </a:rPr>
              <a:t>07</a:t>
            </a:r>
            <a:endParaRPr lang="en-US" sz="900" dirty="0"/>
          </a:p>
        </p:txBody>
      </p:sp>
      <p:sp>
        <p:nvSpPr>
          <p:cNvPr id="4" name="Shape 2"/>
          <p:cNvSpPr/>
          <p:nvPr/>
        </p:nvSpPr>
        <p:spPr>
          <a:xfrm>
            <a:off x="594360" y="749808"/>
            <a:ext cx="11018520" cy="0"/>
          </a:xfrm>
          <a:prstGeom prst="line">
            <a:avLst/>
          </a:prstGeom>
          <a:noFill/>
          <a:ln w="7620">
            <a:solidFill>
              <a:srgbClr val="CDD5DF"/>
            </a:solidFill>
            <a:prstDash val="solid"/>
          </a:ln>
        </p:spPr>
      </p:sp>
      <p:sp>
        <p:nvSpPr>
          <p:cNvPr id="5" name="Text 3"/>
          <p:cNvSpPr/>
          <p:nvPr/>
        </p:nvSpPr>
        <p:spPr>
          <a:xfrm>
            <a:off x="621792" y="1033272"/>
            <a:ext cx="6537960" cy="987552"/>
          </a:xfrm>
          <a:prstGeom prst="rect">
            <a:avLst/>
          </a:prstGeom>
          <a:noFill/>
          <a:ln/>
        </p:spPr>
        <p:txBody>
          <a:bodyPr wrap="square" lIns="254" tIns="254" rIns="254" bIns="254" rtlCol="0" anchor="ctr">
            <a:normAutofit/>
          </a:bodyPr>
          <a:lstStyle/>
          <a:p>
            <a:pPr indent="0" marL="0">
              <a:buNone/>
            </a:pPr>
            <a:r>
              <a:rPr lang="en-US" sz="2800" b="1" dirty="0">
                <a:solidFill>
                  <a:srgbClr val="1F2933"/>
                </a:solidFill>
                <a:latin typeface="Aptos Display" pitchFamily="34" charset="0"/>
                <a:ea typeface="Aptos Display" pitchFamily="34" charset="-122"/>
                <a:cs typeface="Aptos Display" pitchFamily="34" charset="-120"/>
              </a:rPr>
              <a:t>AI does not meet us in tokens. It meets us in completed sentences.</a:t>
            </a:r>
            <a:endParaRPr lang="en-US" sz="2800" dirty="0"/>
          </a:p>
        </p:txBody>
      </p:sp>
      <p:sp>
        <p:nvSpPr>
          <p:cNvPr id="6" name="Text 4"/>
          <p:cNvSpPr/>
          <p:nvPr/>
        </p:nvSpPr>
        <p:spPr>
          <a:xfrm>
            <a:off x="777240" y="2240280"/>
            <a:ext cx="6172200" cy="2560320"/>
          </a:xfrm>
          <a:prstGeom prst="rect">
            <a:avLst/>
          </a:prstGeom>
          <a:noFill/>
          <a:ln/>
        </p:spPr>
        <p:txBody>
          <a:bodyPr wrap="square" lIns="254" tIns="254" rIns="254" bIns="254" rtlCol="0" anchor="ctr">
            <a:normAutofit/>
          </a:bodyPr>
          <a:lstStyle/>
          <a:p>
            <a:r>
              <a:rPr lang="en-US" sz="1540" dirty="0">
                <a:solidFill>
                  <a:srgbClr val="1F2933"/>
                </a:solidFill>
              </a:rPr>
              <a:t>Models may generate tokens internally.</a:t>
            </a:r>
            <a:endParaRPr lang="en-US" sz="1540" dirty="0"/>
          </a:p>
          <a:p>
            <a:r>
              <a:rPr lang="en-US" sz="1540" dirty="0">
                <a:solidFill>
                  <a:srgbClr val="1F2933"/>
                </a:solidFill>
              </a:rPr>
              <a:t>Humans inherit completed claims, instructions, and explanations.</a:t>
            </a:r>
            <a:endParaRPr lang="en-US" sz="1540" dirty="0"/>
          </a:p>
          <a:p>
            <a:r>
              <a:rPr lang="en-US" sz="1540" dirty="0">
                <a:solidFill>
                  <a:srgbClr val="1F2933"/>
                </a:solidFill>
              </a:rPr>
              <a:t>A token is not what signs a contract or grants permission.</a:t>
            </a:r>
            <a:endParaRPr lang="en-US" sz="1540" dirty="0"/>
          </a:p>
          <a:p>
            <a:r>
              <a:rPr lang="en-US" sz="1540" dirty="0">
                <a:solidFill>
                  <a:srgbClr val="1F2933"/>
                </a:solidFill>
              </a:rPr>
              <a:t>AI safety needs sentence-level auditability.</a:t>
            </a:r>
            <a:endParaRPr lang="en-US" sz="1540" dirty="0"/>
          </a:p>
        </p:txBody>
      </p:sp>
      <p:sp>
        <p:nvSpPr>
          <p:cNvPr id="7" name="Shape 5"/>
          <p:cNvSpPr/>
          <p:nvPr/>
        </p:nvSpPr>
        <p:spPr>
          <a:xfrm>
            <a:off x="7772400" y="2240280"/>
            <a:ext cx="2057400" cy="2057400"/>
          </a:xfrm>
          <a:prstGeom prst="roundRect">
            <a:avLst>
              <a:gd name="adj" fmla="val 5333"/>
            </a:avLst>
          </a:prstGeom>
          <a:solidFill>
            <a:srgbClr val="FFFFFF"/>
          </a:solidFill>
          <a:ln w="12700">
            <a:solidFill>
              <a:srgbClr val="CDD5DF"/>
            </a:solidFill>
            <a:prstDash val="solid"/>
          </a:ln>
        </p:spPr>
      </p:sp>
      <p:sp>
        <p:nvSpPr>
          <p:cNvPr id="8" name="Shape 6"/>
          <p:cNvSpPr/>
          <p:nvPr/>
        </p:nvSpPr>
        <p:spPr>
          <a:xfrm>
            <a:off x="8074152" y="2560320"/>
            <a:ext cx="685800" cy="274320"/>
          </a:xfrm>
          <a:prstGeom prst="roundRect">
            <a:avLst>
              <a:gd name="adj" fmla="val 40000"/>
            </a:avLst>
          </a:prstGeom>
          <a:solidFill>
            <a:srgbClr val="F1E5D0"/>
          </a:solidFill>
          <a:ln w="8890">
            <a:solidFill>
              <a:srgbClr val="2F7D73"/>
            </a:solidFill>
            <a:prstDash val="solid"/>
          </a:ln>
        </p:spPr>
      </p:sp>
      <p:sp>
        <p:nvSpPr>
          <p:cNvPr id="9" name="Text 7"/>
          <p:cNvSpPr/>
          <p:nvPr/>
        </p:nvSpPr>
        <p:spPr>
          <a:xfrm>
            <a:off x="8110728" y="2615184"/>
            <a:ext cx="612648" cy="164592"/>
          </a:xfrm>
          <a:prstGeom prst="rect">
            <a:avLst/>
          </a:prstGeom>
          <a:noFill/>
          <a:ln/>
        </p:spPr>
        <p:txBody>
          <a:bodyPr wrap="square" lIns="762" tIns="762" rIns="762" bIns="762" rtlCol="0" anchor="ctr">
            <a:normAutofit/>
          </a:bodyPr>
          <a:lstStyle/>
          <a:p>
            <a:pPr algn="ctr" indent="0" marL="0">
              <a:buNone/>
            </a:pPr>
            <a:r>
              <a:rPr lang="en-US" sz="900" dirty="0">
                <a:solidFill>
                  <a:srgbClr val="1F2933"/>
                </a:solidFill>
                <a:latin typeface="Aptos" pitchFamily="34" charset="0"/>
                <a:ea typeface="Aptos" pitchFamily="34" charset="-122"/>
                <a:cs typeface="Aptos" pitchFamily="34" charset="-120"/>
              </a:rPr>
              <a:t>tok</a:t>
            </a:r>
            <a:endParaRPr lang="en-US" sz="900" dirty="0"/>
          </a:p>
        </p:txBody>
      </p:sp>
      <p:sp>
        <p:nvSpPr>
          <p:cNvPr id="10" name="Shape 8"/>
          <p:cNvSpPr/>
          <p:nvPr/>
        </p:nvSpPr>
        <p:spPr>
          <a:xfrm>
            <a:off x="8074152" y="2999232"/>
            <a:ext cx="685800" cy="274320"/>
          </a:xfrm>
          <a:prstGeom prst="roundRect">
            <a:avLst>
              <a:gd name="adj" fmla="val 40000"/>
            </a:avLst>
          </a:prstGeom>
          <a:solidFill>
            <a:srgbClr val="F1E5D0"/>
          </a:solidFill>
          <a:ln w="8890">
            <a:solidFill>
              <a:srgbClr val="2F7D73"/>
            </a:solidFill>
            <a:prstDash val="solid"/>
          </a:ln>
        </p:spPr>
      </p:sp>
      <p:sp>
        <p:nvSpPr>
          <p:cNvPr id="11" name="Text 9"/>
          <p:cNvSpPr/>
          <p:nvPr/>
        </p:nvSpPr>
        <p:spPr>
          <a:xfrm>
            <a:off x="8110728" y="3054096"/>
            <a:ext cx="612648" cy="164592"/>
          </a:xfrm>
          <a:prstGeom prst="rect">
            <a:avLst/>
          </a:prstGeom>
          <a:noFill/>
          <a:ln/>
        </p:spPr>
        <p:txBody>
          <a:bodyPr wrap="square" lIns="762" tIns="762" rIns="762" bIns="762" rtlCol="0" anchor="ctr">
            <a:normAutofit/>
          </a:bodyPr>
          <a:lstStyle/>
          <a:p>
            <a:pPr algn="ctr" indent="0" marL="0">
              <a:buNone/>
            </a:pPr>
            <a:r>
              <a:rPr lang="en-US" sz="900" dirty="0">
                <a:solidFill>
                  <a:srgbClr val="1F2933"/>
                </a:solidFill>
                <a:latin typeface="Aptos" pitchFamily="34" charset="0"/>
                <a:ea typeface="Aptos" pitchFamily="34" charset="-122"/>
                <a:cs typeface="Aptos" pitchFamily="34" charset="-120"/>
              </a:rPr>
              <a:t>tok</a:t>
            </a:r>
            <a:endParaRPr lang="en-US" sz="900" dirty="0"/>
          </a:p>
        </p:txBody>
      </p:sp>
      <p:sp>
        <p:nvSpPr>
          <p:cNvPr id="12" name="Shape 10"/>
          <p:cNvSpPr/>
          <p:nvPr/>
        </p:nvSpPr>
        <p:spPr>
          <a:xfrm>
            <a:off x="8074152" y="3438144"/>
            <a:ext cx="685800" cy="274320"/>
          </a:xfrm>
          <a:prstGeom prst="roundRect">
            <a:avLst>
              <a:gd name="adj" fmla="val 40000"/>
            </a:avLst>
          </a:prstGeom>
          <a:solidFill>
            <a:srgbClr val="F1E5D0"/>
          </a:solidFill>
          <a:ln w="8890">
            <a:solidFill>
              <a:srgbClr val="2F7D73"/>
            </a:solidFill>
            <a:prstDash val="solid"/>
          </a:ln>
        </p:spPr>
      </p:sp>
      <p:sp>
        <p:nvSpPr>
          <p:cNvPr id="13" name="Text 11"/>
          <p:cNvSpPr/>
          <p:nvPr/>
        </p:nvSpPr>
        <p:spPr>
          <a:xfrm>
            <a:off x="8110728" y="3493008"/>
            <a:ext cx="612648" cy="164592"/>
          </a:xfrm>
          <a:prstGeom prst="rect">
            <a:avLst/>
          </a:prstGeom>
          <a:noFill/>
          <a:ln/>
        </p:spPr>
        <p:txBody>
          <a:bodyPr wrap="square" lIns="762" tIns="762" rIns="762" bIns="762" rtlCol="0" anchor="ctr">
            <a:normAutofit/>
          </a:bodyPr>
          <a:lstStyle/>
          <a:p>
            <a:pPr algn="ctr" indent="0" marL="0">
              <a:buNone/>
            </a:pPr>
            <a:r>
              <a:rPr lang="en-US" sz="900" dirty="0">
                <a:solidFill>
                  <a:srgbClr val="1F2933"/>
                </a:solidFill>
                <a:latin typeface="Aptos" pitchFamily="34" charset="0"/>
                <a:ea typeface="Aptos" pitchFamily="34" charset="-122"/>
                <a:cs typeface="Aptos" pitchFamily="34" charset="-120"/>
              </a:rPr>
              <a:t>tok</a:t>
            </a:r>
            <a:endParaRPr lang="en-US" sz="900" dirty="0"/>
          </a:p>
        </p:txBody>
      </p:sp>
      <p:sp>
        <p:nvSpPr>
          <p:cNvPr id="14" name="Shape 12"/>
          <p:cNvSpPr/>
          <p:nvPr/>
        </p:nvSpPr>
        <p:spPr>
          <a:xfrm>
            <a:off x="9921240" y="3264408"/>
            <a:ext cx="640080" cy="0"/>
          </a:xfrm>
          <a:prstGeom prst="line">
            <a:avLst/>
          </a:prstGeom>
          <a:noFill/>
          <a:ln w="19050">
            <a:solidFill>
              <a:srgbClr val="2F7D73"/>
            </a:solidFill>
            <a:prstDash val="solid"/>
            <a:headEnd type="none"/>
            <a:tailEnd type="triangle"/>
          </a:ln>
        </p:spPr>
      </p:sp>
      <p:sp>
        <p:nvSpPr>
          <p:cNvPr id="15" name="Shape 13"/>
          <p:cNvSpPr/>
          <p:nvPr/>
        </p:nvSpPr>
        <p:spPr>
          <a:xfrm>
            <a:off x="10652760" y="2880360"/>
            <a:ext cx="868680" cy="777240"/>
          </a:xfrm>
          <a:prstGeom prst="roundRect">
            <a:avLst>
              <a:gd name="adj" fmla="val 14118"/>
            </a:avLst>
          </a:prstGeom>
          <a:solidFill>
            <a:srgbClr val="E7F1EE"/>
          </a:solidFill>
          <a:ln w="8890">
            <a:solidFill>
              <a:srgbClr val="2F7D73"/>
            </a:solidFill>
            <a:prstDash val="solid"/>
          </a:ln>
        </p:spPr>
      </p:sp>
      <p:sp>
        <p:nvSpPr>
          <p:cNvPr id="16" name="Text 14"/>
          <p:cNvSpPr/>
          <p:nvPr/>
        </p:nvSpPr>
        <p:spPr>
          <a:xfrm>
            <a:off x="10689336" y="2935224"/>
            <a:ext cx="795528" cy="667512"/>
          </a:xfrm>
          <a:prstGeom prst="rect">
            <a:avLst/>
          </a:prstGeom>
          <a:noFill/>
          <a:ln/>
        </p:spPr>
        <p:txBody>
          <a:bodyPr wrap="square" lIns="762" tIns="762" rIns="762" bIns="762" rtlCol="0" anchor="ctr">
            <a:normAutofit/>
          </a:bodyPr>
          <a:lstStyle/>
          <a:p>
            <a:pPr algn="ctr" indent="0" marL="0">
              <a:buNone/>
            </a:pPr>
            <a:r>
              <a:rPr lang="en-US" sz="1100" b="1" dirty="0">
                <a:solidFill>
                  <a:srgbClr val="1F2933"/>
                </a:solidFill>
                <a:latin typeface="Aptos" pitchFamily="34" charset="0"/>
                <a:ea typeface="Aptos" pitchFamily="34" charset="-122"/>
                <a:cs typeface="Aptos" pitchFamily="34" charset="-120"/>
              </a:rPr>
              <a:t>completed</a:t>
            </a:r>
            <a:endParaRPr lang="en-US" sz="1100" dirty="0"/>
          </a:p>
          <a:p>
            <a:pPr algn="ctr" indent="0" marL="0">
              <a:buNone/>
            </a:pPr>
            <a:r>
              <a:rPr lang="en-US" sz="1100" b="1" dirty="0">
                <a:solidFill>
                  <a:srgbClr val="1F2933"/>
                </a:solidFill>
                <a:latin typeface="Aptos" pitchFamily="34" charset="0"/>
                <a:ea typeface="Aptos" pitchFamily="34" charset="-122"/>
                <a:cs typeface="Aptos" pitchFamily="34" charset="-120"/>
              </a:rPr>
              <a:t>sentence</a:t>
            </a:r>
            <a:endParaRPr lang="en-US" sz="1100" dirty="0"/>
          </a:p>
        </p:txBody>
      </p:sp>
      <p:sp>
        <p:nvSpPr>
          <p:cNvPr id="17" name="Text 15"/>
          <p:cNvSpPr/>
          <p:nvPr/>
        </p:nvSpPr>
        <p:spPr>
          <a:xfrm>
            <a:off x="594360" y="6473952"/>
            <a:ext cx="1920240" cy="201168"/>
          </a:xfrm>
          <a:prstGeom prst="rect">
            <a:avLst/>
          </a:prstGeom>
          <a:noFill/>
          <a:ln/>
        </p:spPr>
        <p:txBody>
          <a:bodyPr wrap="square" lIns="0" tIns="0" rIns="0" bIns="0" rtlCol="0" anchor="ctr"/>
          <a:lstStyle/>
          <a:p>
            <a:pPr indent="0" marL="0">
              <a:buNone/>
            </a:pPr>
            <a:r>
              <a:rPr lang="en-US" sz="850" dirty="0">
                <a:solidFill>
                  <a:srgbClr val="667085"/>
                </a:solidFill>
              </a:rPr>
              <a:t>Settlement Gate</a:t>
            </a:r>
            <a:endParaRPr lang="en-US" sz="850" dirty="0"/>
          </a:p>
        </p:txBody>
      </p:sp>
      <p:sp>
        <p:nvSpPr>
          <p:cNvPr id="18" name="Text 16"/>
          <p:cNvSpPr/>
          <p:nvPr/>
        </p:nvSpPr>
        <p:spPr>
          <a:xfrm>
            <a:off x="9281160" y="6473952"/>
            <a:ext cx="2331720" cy="201168"/>
          </a:xfrm>
          <a:prstGeom prst="rect">
            <a:avLst/>
          </a:prstGeom>
          <a:noFill/>
          <a:ln/>
        </p:spPr>
        <p:txBody>
          <a:bodyPr wrap="square" lIns="0" tIns="0" rIns="0" bIns="0" rtlCol="0" anchor="ctr"/>
          <a:lstStyle/>
          <a:p>
            <a:pPr algn="r" indent="0" marL="0">
              <a:buNone/>
            </a:pPr>
            <a:r>
              <a:rPr lang="en-US" sz="850" dirty="0">
                <a:solidFill>
                  <a:srgbClr val="667085"/>
                </a:solidFill>
              </a:rPr>
              <a:t>Protect → Validate → Build</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7EF"/>
        </a:solidFill>
      </p:bgPr>
    </p:bg>
    <p:spTree>
      <p:nvGrpSpPr>
        <p:cNvPr id="1" name=""/>
        <p:cNvGrpSpPr/>
        <p:nvPr/>
      </p:nvGrpSpPr>
      <p:grpSpPr>
        <a:xfrm>
          <a:off x="0" y="0"/>
          <a:ext cx="0" cy="0"/>
          <a:chOff x="0" y="0"/>
          <a:chExt cx="0" cy="0"/>
        </a:xfrm>
      </p:grpSpPr>
      <p:sp>
        <p:nvSpPr>
          <p:cNvPr id="2" name="Text 0"/>
          <p:cNvSpPr/>
          <p:nvPr/>
        </p:nvSpPr>
        <p:spPr>
          <a:xfrm>
            <a:off x="594360" y="310896"/>
            <a:ext cx="8046720" cy="320040"/>
          </a:xfrm>
          <a:prstGeom prst="rect">
            <a:avLst/>
          </a:prstGeom>
          <a:noFill/>
          <a:ln/>
        </p:spPr>
        <p:txBody>
          <a:bodyPr wrap="square" lIns="0" tIns="0" rIns="0" bIns="0" rtlCol="0" anchor="ctr"/>
          <a:lstStyle/>
          <a:p>
            <a:pPr indent="0" marL="0">
              <a:buNone/>
            </a:pPr>
            <a:r>
              <a:rPr lang="en-US" sz="2000" b="1" dirty="0">
                <a:solidFill>
                  <a:srgbClr val="2F7D73"/>
                </a:solidFill>
                <a:latin typeface="Aptos Display" pitchFamily="34" charset="0"/>
                <a:ea typeface="Aptos Display" pitchFamily="34" charset="-122"/>
                <a:cs typeface="Aptos Display" pitchFamily="34" charset="-120"/>
              </a:rPr>
              <a:t>Every Sentence Lands Somewhere</a:t>
            </a:r>
            <a:endParaRPr lang="en-US" sz="2000" dirty="0"/>
          </a:p>
        </p:txBody>
      </p:sp>
      <p:sp>
        <p:nvSpPr>
          <p:cNvPr id="3" name="Text 1"/>
          <p:cNvSpPr/>
          <p:nvPr/>
        </p:nvSpPr>
        <p:spPr>
          <a:xfrm>
            <a:off x="11109960" y="329184"/>
            <a:ext cx="457200" cy="256032"/>
          </a:xfrm>
          <a:prstGeom prst="rect">
            <a:avLst/>
          </a:prstGeom>
          <a:noFill/>
          <a:ln/>
        </p:spPr>
        <p:txBody>
          <a:bodyPr wrap="square" lIns="0" tIns="0" rIns="0" bIns="0" rtlCol="0" anchor="ctr"/>
          <a:lstStyle/>
          <a:p>
            <a:pPr algn="r" indent="0" marL="0">
              <a:buNone/>
            </a:pPr>
            <a:r>
              <a:rPr lang="en-US" sz="900" dirty="0">
                <a:solidFill>
                  <a:srgbClr val="667085"/>
                </a:solidFill>
              </a:rPr>
              <a:t>08</a:t>
            </a:r>
            <a:endParaRPr lang="en-US" sz="900" dirty="0"/>
          </a:p>
        </p:txBody>
      </p:sp>
      <p:sp>
        <p:nvSpPr>
          <p:cNvPr id="4" name="Shape 2"/>
          <p:cNvSpPr/>
          <p:nvPr/>
        </p:nvSpPr>
        <p:spPr>
          <a:xfrm>
            <a:off x="594360" y="749808"/>
            <a:ext cx="11018520" cy="0"/>
          </a:xfrm>
          <a:prstGeom prst="line">
            <a:avLst/>
          </a:prstGeom>
          <a:noFill/>
          <a:ln w="7620">
            <a:solidFill>
              <a:srgbClr val="CDD5DF"/>
            </a:solidFill>
            <a:prstDash val="solid"/>
          </a:ln>
        </p:spPr>
      </p:sp>
      <p:sp>
        <p:nvSpPr>
          <p:cNvPr id="5" name="Text 3"/>
          <p:cNvSpPr/>
          <p:nvPr/>
        </p:nvSpPr>
        <p:spPr>
          <a:xfrm>
            <a:off x="621792" y="1033272"/>
            <a:ext cx="6537960" cy="987552"/>
          </a:xfrm>
          <a:prstGeom prst="rect">
            <a:avLst/>
          </a:prstGeom>
          <a:noFill/>
          <a:ln/>
        </p:spPr>
        <p:txBody>
          <a:bodyPr wrap="square" lIns="254" tIns="254" rIns="254" bIns="254" rtlCol="0" anchor="ctr">
            <a:normAutofit/>
          </a:bodyPr>
          <a:lstStyle/>
          <a:p>
            <a:pPr indent="0" marL="0">
              <a:buNone/>
            </a:pPr>
            <a:r>
              <a:rPr lang="en-US" sz="2800" b="1" dirty="0">
                <a:solidFill>
                  <a:srgbClr val="1F2933"/>
                </a:solidFill>
                <a:latin typeface="Aptos Display" pitchFamily="34" charset="0"/>
                <a:ea typeface="Aptos Display" pitchFamily="34" charset="-122"/>
                <a:cs typeface="Aptos Display" pitchFamily="34" charset="-120"/>
              </a:rPr>
              <a:t>Every completed sentence lands somewhere. That landing is its address.</a:t>
            </a:r>
            <a:endParaRPr lang="en-US" sz="2800" dirty="0"/>
          </a:p>
        </p:txBody>
      </p:sp>
      <p:sp>
        <p:nvSpPr>
          <p:cNvPr id="6" name="Text 4"/>
          <p:cNvSpPr/>
          <p:nvPr/>
        </p:nvSpPr>
        <p:spPr>
          <a:xfrm>
            <a:off x="777240" y="2240280"/>
            <a:ext cx="6172200" cy="2560320"/>
          </a:xfrm>
          <a:prstGeom prst="rect">
            <a:avLst/>
          </a:prstGeom>
          <a:noFill/>
          <a:ln/>
        </p:spPr>
        <p:txBody>
          <a:bodyPr wrap="square" lIns="254" tIns="254" rIns="254" bIns="254" rtlCol="0" anchor="ctr">
            <a:normAutofit/>
          </a:bodyPr>
          <a:lstStyle/>
          <a:p>
            <a:r>
              <a:rPr lang="en-US" sz="1540" dirty="0">
                <a:solidFill>
                  <a:srgbClr val="1F2933"/>
                </a:solidFill>
              </a:rPr>
              <a:t>Address does not mean topic.</a:t>
            </a:r>
            <a:endParaRPr lang="en-US" sz="1540" dirty="0"/>
          </a:p>
          <a:p>
            <a:r>
              <a:rPr lang="en-US" sz="1540" dirty="0">
                <a:solidFill>
                  <a:srgbClr val="1F2933"/>
                </a:solidFill>
              </a:rPr>
              <a:t>Address means structural landing.</a:t>
            </a:r>
            <a:endParaRPr lang="en-US" sz="1540" dirty="0"/>
          </a:p>
          <a:p>
            <a:r>
              <a:rPr lang="en-US" sz="1540" dirty="0">
                <a:solidFill>
                  <a:srgbClr val="1F2933"/>
                </a:solidFill>
              </a:rPr>
              <a:t>The packet resolves landings as Remainder / Orientation / Operator.</a:t>
            </a:r>
            <a:endParaRPr lang="en-US" sz="1540" dirty="0"/>
          </a:p>
          <a:p>
            <a:r>
              <a:rPr lang="en-US" sz="1540" dirty="0">
                <a:solidFill>
                  <a:srgbClr val="1F2933"/>
                </a:solidFill>
              </a:rPr>
              <a:t>The practical question: can the landing be recovered?</a:t>
            </a:r>
            <a:endParaRPr lang="en-US" sz="1540" dirty="0"/>
          </a:p>
        </p:txBody>
      </p:sp>
      <p:sp>
        <p:nvSpPr>
          <p:cNvPr id="7" name="Shape 5"/>
          <p:cNvSpPr/>
          <p:nvPr/>
        </p:nvSpPr>
        <p:spPr>
          <a:xfrm>
            <a:off x="7589520" y="2606040"/>
            <a:ext cx="1097280" cy="502920"/>
          </a:xfrm>
          <a:prstGeom prst="roundRect">
            <a:avLst>
              <a:gd name="adj" fmla="val 21818"/>
            </a:avLst>
          </a:prstGeom>
          <a:solidFill>
            <a:srgbClr val="E7F1EE"/>
          </a:solidFill>
          <a:ln w="8890">
            <a:solidFill>
              <a:srgbClr val="2F7D73"/>
            </a:solidFill>
            <a:prstDash val="solid"/>
          </a:ln>
        </p:spPr>
      </p:sp>
      <p:sp>
        <p:nvSpPr>
          <p:cNvPr id="8" name="Text 6"/>
          <p:cNvSpPr/>
          <p:nvPr/>
        </p:nvSpPr>
        <p:spPr>
          <a:xfrm>
            <a:off x="7626096" y="2660904"/>
            <a:ext cx="1024128" cy="393192"/>
          </a:xfrm>
          <a:prstGeom prst="rect">
            <a:avLst/>
          </a:prstGeom>
          <a:noFill/>
          <a:ln/>
        </p:spPr>
        <p:txBody>
          <a:bodyPr wrap="square" lIns="762" tIns="762" rIns="762" bIns="762" rtlCol="0" anchor="ctr">
            <a:normAutofit/>
          </a:bodyPr>
          <a:lstStyle/>
          <a:p>
            <a:pPr algn="ctr" indent="0" marL="0">
              <a:buNone/>
            </a:pPr>
            <a:r>
              <a:rPr lang="en-US" sz="1200" b="1" dirty="0">
                <a:solidFill>
                  <a:srgbClr val="1F2933"/>
                </a:solidFill>
                <a:latin typeface="Aptos" pitchFamily="34" charset="0"/>
                <a:ea typeface="Aptos" pitchFamily="34" charset="-122"/>
                <a:cs typeface="Aptos" pitchFamily="34" charset="-120"/>
              </a:rPr>
              <a:t>Sentence</a:t>
            </a:r>
            <a:endParaRPr lang="en-US" sz="1200" dirty="0"/>
          </a:p>
        </p:txBody>
      </p:sp>
      <p:sp>
        <p:nvSpPr>
          <p:cNvPr id="9" name="Shape 7"/>
          <p:cNvSpPr/>
          <p:nvPr/>
        </p:nvSpPr>
        <p:spPr>
          <a:xfrm>
            <a:off x="8778240" y="2862072"/>
            <a:ext cx="502920" cy="0"/>
          </a:xfrm>
          <a:prstGeom prst="line">
            <a:avLst/>
          </a:prstGeom>
          <a:noFill/>
          <a:ln w="19050">
            <a:solidFill>
              <a:srgbClr val="2F7D73"/>
            </a:solidFill>
            <a:prstDash val="solid"/>
            <a:headEnd type="none"/>
            <a:tailEnd type="triangle"/>
          </a:ln>
        </p:spPr>
      </p:sp>
      <p:sp>
        <p:nvSpPr>
          <p:cNvPr id="10" name="Shape 8"/>
          <p:cNvSpPr/>
          <p:nvPr/>
        </p:nvSpPr>
        <p:spPr>
          <a:xfrm>
            <a:off x="9354312" y="2606040"/>
            <a:ext cx="914400" cy="502920"/>
          </a:xfrm>
          <a:prstGeom prst="roundRect">
            <a:avLst>
              <a:gd name="adj" fmla="val 21818"/>
            </a:avLst>
          </a:prstGeom>
          <a:solidFill>
            <a:srgbClr val="F1E5D0"/>
          </a:solidFill>
          <a:ln w="8890">
            <a:solidFill>
              <a:srgbClr val="2F7D73"/>
            </a:solidFill>
            <a:prstDash val="solid"/>
          </a:ln>
        </p:spPr>
      </p:sp>
      <p:sp>
        <p:nvSpPr>
          <p:cNvPr id="11" name="Text 9"/>
          <p:cNvSpPr/>
          <p:nvPr/>
        </p:nvSpPr>
        <p:spPr>
          <a:xfrm>
            <a:off x="9390888" y="2660904"/>
            <a:ext cx="841248" cy="393192"/>
          </a:xfrm>
          <a:prstGeom prst="rect">
            <a:avLst/>
          </a:prstGeom>
          <a:noFill/>
          <a:ln/>
        </p:spPr>
        <p:txBody>
          <a:bodyPr wrap="square" lIns="762" tIns="762" rIns="762" bIns="762" rtlCol="0" anchor="ctr">
            <a:normAutofit/>
          </a:bodyPr>
          <a:lstStyle/>
          <a:p>
            <a:pPr algn="ctr" indent="0" marL="0">
              <a:buNone/>
            </a:pPr>
            <a:r>
              <a:rPr lang="en-US" sz="1200" b="1" dirty="0">
                <a:solidFill>
                  <a:srgbClr val="1F2933"/>
                </a:solidFill>
                <a:latin typeface="Aptos" pitchFamily="34" charset="0"/>
                <a:ea typeface="Aptos" pitchFamily="34" charset="-122"/>
                <a:cs typeface="Aptos" pitchFamily="34" charset="-120"/>
              </a:rPr>
              <a:t>A1–A6</a:t>
            </a:r>
            <a:endParaRPr lang="en-US" sz="1200" dirty="0"/>
          </a:p>
        </p:txBody>
      </p:sp>
      <p:sp>
        <p:nvSpPr>
          <p:cNvPr id="12" name="Shape 10"/>
          <p:cNvSpPr/>
          <p:nvPr/>
        </p:nvSpPr>
        <p:spPr>
          <a:xfrm>
            <a:off x="10351008" y="2862072"/>
            <a:ext cx="438912" cy="0"/>
          </a:xfrm>
          <a:prstGeom prst="line">
            <a:avLst/>
          </a:prstGeom>
          <a:noFill/>
          <a:ln w="19050">
            <a:solidFill>
              <a:srgbClr val="2F7D73"/>
            </a:solidFill>
            <a:prstDash val="solid"/>
            <a:headEnd type="none"/>
            <a:tailEnd type="triangle"/>
          </a:ln>
        </p:spPr>
      </p:sp>
      <p:sp>
        <p:nvSpPr>
          <p:cNvPr id="13" name="Shape 11"/>
          <p:cNvSpPr/>
          <p:nvPr/>
        </p:nvSpPr>
        <p:spPr>
          <a:xfrm>
            <a:off x="10853928" y="2606040"/>
            <a:ext cx="1051560" cy="502920"/>
          </a:xfrm>
          <a:prstGeom prst="roundRect">
            <a:avLst>
              <a:gd name="adj" fmla="val 21818"/>
            </a:avLst>
          </a:prstGeom>
          <a:solidFill>
            <a:srgbClr val="E7F1EE"/>
          </a:solidFill>
          <a:ln w="8890">
            <a:solidFill>
              <a:srgbClr val="2F7D73"/>
            </a:solidFill>
            <a:prstDash val="solid"/>
          </a:ln>
        </p:spPr>
      </p:sp>
      <p:sp>
        <p:nvSpPr>
          <p:cNvPr id="14" name="Text 12"/>
          <p:cNvSpPr/>
          <p:nvPr/>
        </p:nvSpPr>
        <p:spPr>
          <a:xfrm>
            <a:off x="10890504" y="2660904"/>
            <a:ext cx="978408" cy="393192"/>
          </a:xfrm>
          <a:prstGeom prst="rect">
            <a:avLst/>
          </a:prstGeom>
          <a:noFill/>
          <a:ln/>
        </p:spPr>
        <p:txBody>
          <a:bodyPr wrap="square" lIns="762" tIns="762" rIns="762" bIns="762" rtlCol="0" anchor="ctr">
            <a:normAutofit/>
          </a:bodyPr>
          <a:lstStyle/>
          <a:p>
            <a:pPr algn="ctr" indent="0" marL="0">
              <a:buNone/>
            </a:pPr>
            <a:r>
              <a:rPr lang="en-US" sz="1200" b="1" dirty="0">
                <a:solidFill>
                  <a:srgbClr val="1F2933"/>
                </a:solidFill>
                <a:latin typeface="Aptos" pitchFamily="34" charset="0"/>
                <a:ea typeface="Aptos" pitchFamily="34" charset="-122"/>
                <a:cs typeface="Aptos" pitchFamily="34" charset="-120"/>
              </a:rPr>
              <a:t>Address</a:t>
            </a:r>
            <a:endParaRPr lang="en-US" sz="1200" dirty="0"/>
          </a:p>
        </p:txBody>
      </p:sp>
      <p:sp>
        <p:nvSpPr>
          <p:cNvPr id="15" name="Text 13"/>
          <p:cNvSpPr/>
          <p:nvPr/>
        </p:nvSpPr>
        <p:spPr>
          <a:xfrm>
            <a:off x="7909560" y="3520440"/>
            <a:ext cx="3429000" cy="320040"/>
          </a:xfrm>
          <a:prstGeom prst="rect">
            <a:avLst/>
          </a:prstGeom>
          <a:noFill/>
          <a:ln/>
        </p:spPr>
        <p:txBody>
          <a:bodyPr wrap="square" lIns="762" tIns="762" rIns="762" bIns="762" rtlCol="0" anchor="ctr">
            <a:normAutofit/>
          </a:bodyPr>
          <a:lstStyle/>
          <a:p>
            <a:pPr algn="ctr" indent="0" marL="0">
              <a:buNone/>
            </a:pPr>
            <a:r>
              <a:rPr lang="en-US" sz="1300" dirty="0">
                <a:solidFill>
                  <a:srgbClr val="667085"/>
                </a:solidFill>
                <a:latin typeface="Aptos" pitchFamily="34" charset="0"/>
                <a:ea typeface="Aptos" pitchFamily="34" charset="-122"/>
                <a:cs typeface="Aptos" pitchFamily="34" charset="-120"/>
              </a:rPr>
              <a:t>Remainder / Orientation / Operator</a:t>
            </a:r>
            <a:endParaRPr lang="en-US" sz="1300" dirty="0"/>
          </a:p>
        </p:txBody>
      </p:sp>
      <p:sp>
        <p:nvSpPr>
          <p:cNvPr id="16" name="Text 14"/>
          <p:cNvSpPr/>
          <p:nvPr/>
        </p:nvSpPr>
        <p:spPr>
          <a:xfrm>
            <a:off x="594360" y="6473952"/>
            <a:ext cx="1920240" cy="201168"/>
          </a:xfrm>
          <a:prstGeom prst="rect">
            <a:avLst/>
          </a:prstGeom>
          <a:noFill/>
          <a:ln/>
        </p:spPr>
        <p:txBody>
          <a:bodyPr wrap="square" lIns="0" tIns="0" rIns="0" bIns="0" rtlCol="0" anchor="ctr"/>
          <a:lstStyle/>
          <a:p>
            <a:pPr indent="0" marL="0">
              <a:buNone/>
            </a:pPr>
            <a:r>
              <a:rPr lang="en-US" sz="850" dirty="0">
                <a:solidFill>
                  <a:srgbClr val="667085"/>
                </a:solidFill>
              </a:rPr>
              <a:t>Settlement Gate</a:t>
            </a:r>
            <a:endParaRPr lang="en-US" sz="850" dirty="0"/>
          </a:p>
        </p:txBody>
      </p:sp>
      <p:sp>
        <p:nvSpPr>
          <p:cNvPr id="17" name="Text 15"/>
          <p:cNvSpPr/>
          <p:nvPr/>
        </p:nvSpPr>
        <p:spPr>
          <a:xfrm>
            <a:off x="9281160" y="6473952"/>
            <a:ext cx="2331720" cy="201168"/>
          </a:xfrm>
          <a:prstGeom prst="rect">
            <a:avLst/>
          </a:prstGeom>
          <a:noFill/>
          <a:ln/>
        </p:spPr>
        <p:txBody>
          <a:bodyPr wrap="square" lIns="0" tIns="0" rIns="0" bIns="0" rtlCol="0" anchor="ctr"/>
          <a:lstStyle/>
          <a:p>
            <a:pPr algn="r" indent="0" marL="0">
              <a:buNone/>
            </a:pPr>
            <a:r>
              <a:rPr lang="en-US" sz="850" dirty="0">
                <a:solidFill>
                  <a:srgbClr val="667085"/>
                </a:solidFill>
              </a:rPr>
              <a:t>Protect → Validate → Build</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EF"/>
        </a:solidFill>
      </p:bgPr>
    </p:bg>
    <p:spTree>
      <p:nvGrpSpPr>
        <p:cNvPr id="1" name=""/>
        <p:cNvGrpSpPr/>
        <p:nvPr/>
      </p:nvGrpSpPr>
      <p:grpSpPr>
        <a:xfrm>
          <a:off x="0" y="0"/>
          <a:ext cx="0" cy="0"/>
          <a:chOff x="0" y="0"/>
          <a:chExt cx="0" cy="0"/>
        </a:xfrm>
      </p:grpSpPr>
      <p:sp>
        <p:nvSpPr>
          <p:cNvPr id="2" name="Text 0"/>
          <p:cNvSpPr/>
          <p:nvPr/>
        </p:nvSpPr>
        <p:spPr>
          <a:xfrm>
            <a:off x="594360" y="310896"/>
            <a:ext cx="8046720" cy="320040"/>
          </a:xfrm>
          <a:prstGeom prst="rect">
            <a:avLst/>
          </a:prstGeom>
          <a:noFill/>
          <a:ln/>
        </p:spPr>
        <p:txBody>
          <a:bodyPr wrap="square" lIns="0" tIns="0" rIns="0" bIns="0" rtlCol="0" anchor="ctr"/>
          <a:lstStyle/>
          <a:p>
            <a:pPr indent="0" marL="0">
              <a:buNone/>
            </a:pPr>
            <a:r>
              <a:rPr lang="en-US" sz="2000" b="1" dirty="0">
                <a:solidFill>
                  <a:srgbClr val="2F7D73"/>
                </a:solidFill>
                <a:latin typeface="Aptos Display" pitchFamily="34" charset="0"/>
                <a:ea typeface="Aptos Display" pitchFamily="34" charset="-122"/>
                <a:cs typeface="Aptos Display" pitchFamily="34" charset="-120"/>
              </a:rPr>
              <a:t>Similar Words, Different Landings</a:t>
            </a:r>
            <a:endParaRPr lang="en-US" sz="2000" dirty="0"/>
          </a:p>
        </p:txBody>
      </p:sp>
      <p:sp>
        <p:nvSpPr>
          <p:cNvPr id="3" name="Text 1"/>
          <p:cNvSpPr/>
          <p:nvPr/>
        </p:nvSpPr>
        <p:spPr>
          <a:xfrm>
            <a:off x="11109960" y="329184"/>
            <a:ext cx="457200" cy="256032"/>
          </a:xfrm>
          <a:prstGeom prst="rect">
            <a:avLst/>
          </a:prstGeom>
          <a:noFill/>
          <a:ln/>
        </p:spPr>
        <p:txBody>
          <a:bodyPr wrap="square" lIns="0" tIns="0" rIns="0" bIns="0" rtlCol="0" anchor="ctr"/>
          <a:lstStyle/>
          <a:p>
            <a:pPr algn="r" indent="0" marL="0">
              <a:buNone/>
            </a:pPr>
            <a:r>
              <a:rPr lang="en-US" sz="900" dirty="0">
                <a:solidFill>
                  <a:srgbClr val="667085"/>
                </a:solidFill>
              </a:rPr>
              <a:t>09</a:t>
            </a:r>
            <a:endParaRPr lang="en-US" sz="900" dirty="0"/>
          </a:p>
        </p:txBody>
      </p:sp>
      <p:sp>
        <p:nvSpPr>
          <p:cNvPr id="4" name="Shape 2"/>
          <p:cNvSpPr/>
          <p:nvPr/>
        </p:nvSpPr>
        <p:spPr>
          <a:xfrm>
            <a:off x="594360" y="749808"/>
            <a:ext cx="11018520" cy="0"/>
          </a:xfrm>
          <a:prstGeom prst="line">
            <a:avLst/>
          </a:prstGeom>
          <a:noFill/>
          <a:ln w="7620">
            <a:solidFill>
              <a:srgbClr val="CDD5DF"/>
            </a:solidFill>
            <a:prstDash val="solid"/>
          </a:ln>
        </p:spPr>
      </p:sp>
      <p:sp>
        <p:nvSpPr>
          <p:cNvPr id="5" name="Text 3"/>
          <p:cNvSpPr/>
          <p:nvPr/>
        </p:nvSpPr>
        <p:spPr>
          <a:xfrm>
            <a:off x="621792" y="1033272"/>
            <a:ext cx="6537960" cy="987552"/>
          </a:xfrm>
          <a:prstGeom prst="rect">
            <a:avLst/>
          </a:prstGeom>
          <a:noFill/>
          <a:ln/>
        </p:spPr>
        <p:txBody>
          <a:bodyPr wrap="square" lIns="254" tIns="254" rIns="254" bIns="254" rtlCol="0" anchor="ctr">
            <a:normAutofit/>
          </a:bodyPr>
          <a:lstStyle/>
          <a:p>
            <a:pPr indent="0" marL="0">
              <a:buNone/>
            </a:pPr>
            <a:r>
              <a:rPr lang="en-US" sz="2800" b="1" dirty="0">
                <a:solidFill>
                  <a:srgbClr val="1F2933"/>
                </a:solidFill>
                <a:latin typeface="Aptos Display" pitchFamily="34" charset="0"/>
                <a:ea typeface="Aptos Display" pitchFamily="34" charset="-122"/>
                <a:cs typeface="Aptos Display" pitchFamily="34" charset="-120"/>
              </a:rPr>
              <a:t>Two similar sentences can have different addresses: “The door closed” and “The door is closed.”</a:t>
            </a:r>
            <a:endParaRPr lang="en-US" sz="2800" dirty="0"/>
          </a:p>
        </p:txBody>
      </p:sp>
      <p:sp>
        <p:nvSpPr>
          <p:cNvPr id="6" name="Text 4"/>
          <p:cNvSpPr/>
          <p:nvPr/>
        </p:nvSpPr>
        <p:spPr>
          <a:xfrm>
            <a:off x="777240" y="2240280"/>
            <a:ext cx="6172200" cy="2560320"/>
          </a:xfrm>
          <a:prstGeom prst="rect">
            <a:avLst/>
          </a:prstGeom>
          <a:noFill/>
          <a:ln/>
        </p:spPr>
        <p:txBody>
          <a:bodyPr wrap="square" lIns="254" tIns="254" rIns="254" bIns="254" rtlCol="0" anchor="ctr">
            <a:normAutofit/>
          </a:bodyPr>
          <a:lstStyle/>
          <a:p>
            <a:r>
              <a:rPr lang="en-US" sz="1540" dirty="0">
                <a:solidFill>
                  <a:srgbClr val="1F2933"/>
                </a:solidFill>
              </a:rPr>
              <a:t>One leaves an event.</a:t>
            </a:r>
            <a:endParaRPr lang="en-US" sz="1540" dirty="0"/>
          </a:p>
          <a:p>
            <a:r>
              <a:rPr lang="en-US" sz="1540" dirty="0">
                <a:solidFill>
                  <a:srgbClr val="1F2933"/>
                </a:solidFill>
              </a:rPr>
              <a:t>One leaves a state.</a:t>
            </a:r>
            <a:endParaRPr lang="en-US" sz="1540" dirty="0"/>
          </a:p>
          <a:p>
            <a:r>
              <a:rPr lang="en-US" sz="1540" dirty="0">
                <a:solidFill>
                  <a:srgbClr val="1F2933"/>
                </a:solidFill>
              </a:rPr>
              <a:t>Similar surface, different settlement.</a:t>
            </a:r>
            <a:endParaRPr lang="en-US" sz="1540" dirty="0"/>
          </a:p>
          <a:p>
            <a:r>
              <a:rPr lang="en-US" sz="1540" dirty="0">
                <a:solidFill>
                  <a:srgbClr val="1F2933"/>
                </a:solidFill>
              </a:rPr>
              <a:t>AI, legal, and operational systems should not collapse them.</a:t>
            </a:r>
            <a:endParaRPr lang="en-US" sz="1540" dirty="0"/>
          </a:p>
        </p:txBody>
      </p:sp>
      <p:sp>
        <p:nvSpPr>
          <p:cNvPr id="7" name="Shape 5"/>
          <p:cNvSpPr/>
          <p:nvPr/>
        </p:nvSpPr>
        <p:spPr>
          <a:xfrm>
            <a:off x="7498080" y="2194560"/>
            <a:ext cx="1783080" cy="2011680"/>
          </a:xfrm>
          <a:prstGeom prst="roundRect">
            <a:avLst>
              <a:gd name="adj" fmla="val 4103"/>
            </a:avLst>
          </a:prstGeom>
          <a:solidFill>
            <a:srgbClr val="FFFFFF"/>
          </a:solidFill>
          <a:ln w="12700">
            <a:solidFill>
              <a:srgbClr val="CDD5DF"/>
            </a:solidFill>
            <a:prstDash val="solid"/>
          </a:ln>
        </p:spPr>
      </p:sp>
      <p:sp>
        <p:nvSpPr>
          <p:cNvPr id="8" name="Shape 6"/>
          <p:cNvSpPr/>
          <p:nvPr/>
        </p:nvSpPr>
        <p:spPr>
          <a:xfrm>
            <a:off x="9509760" y="2194560"/>
            <a:ext cx="1783080" cy="2011680"/>
          </a:xfrm>
          <a:prstGeom prst="roundRect">
            <a:avLst>
              <a:gd name="adj" fmla="val 4103"/>
            </a:avLst>
          </a:prstGeom>
          <a:solidFill>
            <a:srgbClr val="FFFFFF"/>
          </a:solidFill>
          <a:ln w="12700">
            <a:solidFill>
              <a:srgbClr val="CDD5DF"/>
            </a:solidFill>
            <a:prstDash val="solid"/>
          </a:ln>
        </p:spPr>
      </p:sp>
      <p:sp>
        <p:nvSpPr>
          <p:cNvPr id="9" name="Text 7"/>
          <p:cNvSpPr/>
          <p:nvPr/>
        </p:nvSpPr>
        <p:spPr>
          <a:xfrm>
            <a:off x="7680960" y="2578608"/>
            <a:ext cx="1417320" cy="594360"/>
          </a:xfrm>
          <a:prstGeom prst="rect">
            <a:avLst/>
          </a:prstGeom>
          <a:noFill/>
          <a:ln/>
        </p:spPr>
        <p:txBody>
          <a:bodyPr wrap="square" lIns="762" tIns="762" rIns="762" bIns="762" rtlCol="0" anchor="ctr">
            <a:normAutofit/>
          </a:bodyPr>
          <a:lstStyle/>
          <a:p>
            <a:pPr algn="ctr" indent="0" marL="0">
              <a:buNone/>
            </a:pPr>
            <a:r>
              <a:rPr lang="en-US" sz="1900" b="1" dirty="0">
                <a:solidFill>
                  <a:srgbClr val="1F2933"/>
                </a:solidFill>
                <a:latin typeface="Aptos" pitchFamily="34" charset="0"/>
                <a:ea typeface="Aptos" pitchFamily="34" charset="-122"/>
                <a:cs typeface="Aptos" pitchFamily="34" charset="-120"/>
              </a:rPr>
              <a:t>The door</a:t>
            </a:r>
            <a:endParaRPr lang="en-US" sz="1900" dirty="0"/>
          </a:p>
          <a:p>
            <a:pPr algn="ctr" indent="0" marL="0">
              <a:buNone/>
            </a:pPr>
            <a:r>
              <a:rPr lang="en-US" sz="1900" b="1" dirty="0">
                <a:solidFill>
                  <a:srgbClr val="1F2933"/>
                </a:solidFill>
                <a:latin typeface="Aptos" pitchFamily="34" charset="0"/>
                <a:ea typeface="Aptos" pitchFamily="34" charset="-122"/>
                <a:cs typeface="Aptos" pitchFamily="34" charset="-120"/>
              </a:rPr>
              <a:t>closed</a:t>
            </a:r>
            <a:endParaRPr lang="en-US" sz="1900" dirty="0"/>
          </a:p>
        </p:txBody>
      </p:sp>
      <p:sp>
        <p:nvSpPr>
          <p:cNvPr id="10" name="Text 8"/>
          <p:cNvSpPr/>
          <p:nvPr/>
        </p:nvSpPr>
        <p:spPr>
          <a:xfrm>
            <a:off x="7863840" y="3520440"/>
            <a:ext cx="1051560" cy="320040"/>
          </a:xfrm>
          <a:prstGeom prst="rect">
            <a:avLst/>
          </a:prstGeom>
          <a:noFill/>
          <a:ln/>
        </p:spPr>
        <p:txBody>
          <a:bodyPr wrap="square" lIns="762" tIns="762" rIns="762" bIns="762" rtlCol="0" anchor="ctr">
            <a:normAutofit/>
          </a:bodyPr>
          <a:lstStyle/>
          <a:p>
            <a:pPr algn="ctr" indent="0" marL="0">
              <a:buNone/>
            </a:pPr>
            <a:r>
              <a:rPr lang="en-US" sz="1600" b="1" dirty="0">
                <a:solidFill>
                  <a:srgbClr val="2F7D73"/>
                </a:solidFill>
                <a:latin typeface="Aptos" pitchFamily="34" charset="0"/>
                <a:ea typeface="Aptos" pitchFamily="34" charset="-122"/>
                <a:cs typeface="Aptos" pitchFamily="34" charset="-120"/>
              </a:rPr>
              <a:t>event</a:t>
            </a:r>
            <a:endParaRPr lang="en-US" sz="1600" dirty="0"/>
          </a:p>
        </p:txBody>
      </p:sp>
      <p:sp>
        <p:nvSpPr>
          <p:cNvPr id="11" name="Text 9"/>
          <p:cNvSpPr/>
          <p:nvPr/>
        </p:nvSpPr>
        <p:spPr>
          <a:xfrm>
            <a:off x="9692640" y="2578608"/>
            <a:ext cx="1417320" cy="594360"/>
          </a:xfrm>
          <a:prstGeom prst="rect">
            <a:avLst/>
          </a:prstGeom>
          <a:noFill/>
          <a:ln/>
        </p:spPr>
        <p:txBody>
          <a:bodyPr wrap="square" lIns="762" tIns="762" rIns="762" bIns="762" rtlCol="0" anchor="ctr">
            <a:normAutofit/>
          </a:bodyPr>
          <a:lstStyle/>
          <a:p>
            <a:pPr algn="ctr" indent="0" marL="0">
              <a:buNone/>
            </a:pPr>
            <a:r>
              <a:rPr lang="en-US" sz="1900" b="1" dirty="0">
                <a:solidFill>
                  <a:srgbClr val="1F2933"/>
                </a:solidFill>
                <a:latin typeface="Aptos" pitchFamily="34" charset="0"/>
                <a:ea typeface="Aptos" pitchFamily="34" charset="-122"/>
                <a:cs typeface="Aptos" pitchFamily="34" charset="-120"/>
              </a:rPr>
              <a:t>The door</a:t>
            </a:r>
            <a:endParaRPr lang="en-US" sz="1900" dirty="0"/>
          </a:p>
          <a:p>
            <a:pPr algn="ctr" indent="0" marL="0">
              <a:buNone/>
            </a:pPr>
            <a:r>
              <a:rPr lang="en-US" sz="1900" b="1" dirty="0">
                <a:solidFill>
                  <a:srgbClr val="1F2933"/>
                </a:solidFill>
                <a:latin typeface="Aptos" pitchFamily="34" charset="0"/>
                <a:ea typeface="Aptos" pitchFamily="34" charset="-122"/>
                <a:cs typeface="Aptos" pitchFamily="34" charset="-120"/>
              </a:rPr>
              <a:t>is closed</a:t>
            </a:r>
            <a:endParaRPr lang="en-US" sz="1900" dirty="0"/>
          </a:p>
        </p:txBody>
      </p:sp>
      <p:sp>
        <p:nvSpPr>
          <p:cNvPr id="12" name="Text 10"/>
          <p:cNvSpPr/>
          <p:nvPr/>
        </p:nvSpPr>
        <p:spPr>
          <a:xfrm>
            <a:off x="9902952" y="3520440"/>
            <a:ext cx="1005840" cy="320040"/>
          </a:xfrm>
          <a:prstGeom prst="rect">
            <a:avLst/>
          </a:prstGeom>
          <a:noFill/>
          <a:ln/>
        </p:spPr>
        <p:txBody>
          <a:bodyPr wrap="square" lIns="762" tIns="762" rIns="762" bIns="762" rtlCol="0" anchor="ctr">
            <a:normAutofit/>
          </a:bodyPr>
          <a:lstStyle/>
          <a:p>
            <a:pPr algn="ctr" indent="0" marL="0">
              <a:buNone/>
            </a:pPr>
            <a:r>
              <a:rPr lang="en-US" sz="1600" b="1" dirty="0">
                <a:solidFill>
                  <a:srgbClr val="2F7D73"/>
                </a:solidFill>
                <a:latin typeface="Aptos" pitchFamily="34" charset="0"/>
                <a:ea typeface="Aptos" pitchFamily="34" charset="-122"/>
                <a:cs typeface="Aptos" pitchFamily="34" charset="-120"/>
              </a:rPr>
              <a:t>state</a:t>
            </a:r>
            <a:endParaRPr lang="en-US" sz="1600" dirty="0"/>
          </a:p>
        </p:txBody>
      </p:sp>
      <p:sp>
        <p:nvSpPr>
          <p:cNvPr id="13" name="Text 11"/>
          <p:cNvSpPr/>
          <p:nvPr/>
        </p:nvSpPr>
        <p:spPr>
          <a:xfrm>
            <a:off x="594360" y="6473952"/>
            <a:ext cx="1920240" cy="201168"/>
          </a:xfrm>
          <a:prstGeom prst="rect">
            <a:avLst/>
          </a:prstGeom>
          <a:noFill/>
          <a:ln/>
        </p:spPr>
        <p:txBody>
          <a:bodyPr wrap="square" lIns="0" tIns="0" rIns="0" bIns="0" rtlCol="0" anchor="ctr"/>
          <a:lstStyle/>
          <a:p>
            <a:pPr indent="0" marL="0">
              <a:buNone/>
            </a:pPr>
            <a:r>
              <a:rPr lang="en-US" sz="850" dirty="0">
                <a:solidFill>
                  <a:srgbClr val="667085"/>
                </a:solidFill>
              </a:rPr>
              <a:t>Settlement Gate</a:t>
            </a:r>
            <a:endParaRPr lang="en-US" sz="850" dirty="0"/>
          </a:p>
        </p:txBody>
      </p:sp>
      <p:sp>
        <p:nvSpPr>
          <p:cNvPr id="14" name="Text 12"/>
          <p:cNvSpPr/>
          <p:nvPr/>
        </p:nvSpPr>
        <p:spPr>
          <a:xfrm>
            <a:off x="9281160" y="6473952"/>
            <a:ext cx="2331720" cy="201168"/>
          </a:xfrm>
          <a:prstGeom prst="rect">
            <a:avLst/>
          </a:prstGeom>
          <a:noFill/>
          <a:ln/>
        </p:spPr>
        <p:txBody>
          <a:bodyPr wrap="square" lIns="0" tIns="0" rIns="0" bIns="0" rtlCol="0" anchor="ctr"/>
          <a:lstStyle/>
          <a:p>
            <a:pPr algn="r" indent="0" marL="0">
              <a:buNone/>
            </a:pPr>
            <a:r>
              <a:rPr lang="en-US" sz="850" dirty="0">
                <a:solidFill>
                  <a:srgbClr val="667085"/>
                </a:solidFill>
              </a:rPr>
              <a:t>Protect → Validate → Build</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7EF"/>
        </a:solidFill>
      </p:bgPr>
    </p:bg>
    <p:spTree>
      <p:nvGrpSpPr>
        <p:cNvPr id="1" name=""/>
        <p:cNvGrpSpPr/>
        <p:nvPr/>
      </p:nvGrpSpPr>
      <p:grpSpPr>
        <a:xfrm>
          <a:off x="0" y="0"/>
          <a:ext cx="0" cy="0"/>
          <a:chOff x="0" y="0"/>
          <a:chExt cx="0" cy="0"/>
        </a:xfrm>
      </p:grpSpPr>
      <p:sp>
        <p:nvSpPr>
          <p:cNvPr id="2" name="Text 0"/>
          <p:cNvSpPr/>
          <p:nvPr/>
        </p:nvSpPr>
        <p:spPr>
          <a:xfrm>
            <a:off x="594360" y="310896"/>
            <a:ext cx="8046720" cy="320040"/>
          </a:xfrm>
          <a:prstGeom prst="rect">
            <a:avLst/>
          </a:prstGeom>
          <a:noFill/>
          <a:ln/>
        </p:spPr>
        <p:txBody>
          <a:bodyPr wrap="square" lIns="0" tIns="0" rIns="0" bIns="0" rtlCol="0" anchor="ctr"/>
          <a:lstStyle/>
          <a:p>
            <a:pPr indent="0" marL="0">
              <a:buNone/>
            </a:pPr>
            <a:r>
              <a:rPr lang="en-US" sz="2000" b="1" dirty="0">
                <a:solidFill>
                  <a:srgbClr val="2F7D73"/>
                </a:solidFill>
                <a:latin typeface="Aptos Display" pitchFamily="34" charset="0"/>
                <a:ea typeface="Aptos Display" pitchFamily="34" charset="-122"/>
                <a:cs typeface="Aptos Display" pitchFamily="34" charset="-120"/>
              </a:rPr>
              <a:t>Slowing the Sentence Down</a:t>
            </a:r>
            <a:endParaRPr lang="en-US" sz="2000" dirty="0"/>
          </a:p>
        </p:txBody>
      </p:sp>
      <p:sp>
        <p:nvSpPr>
          <p:cNvPr id="3" name="Text 1"/>
          <p:cNvSpPr/>
          <p:nvPr/>
        </p:nvSpPr>
        <p:spPr>
          <a:xfrm>
            <a:off x="11109960" y="329184"/>
            <a:ext cx="457200" cy="256032"/>
          </a:xfrm>
          <a:prstGeom prst="rect">
            <a:avLst/>
          </a:prstGeom>
          <a:noFill/>
          <a:ln/>
        </p:spPr>
        <p:txBody>
          <a:bodyPr wrap="square" lIns="0" tIns="0" rIns="0" bIns="0" rtlCol="0" anchor="ctr"/>
          <a:lstStyle/>
          <a:p>
            <a:pPr algn="r" indent="0" marL="0">
              <a:buNone/>
            </a:pPr>
            <a:r>
              <a:rPr lang="en-US" sz="900" dirty="0">
                <a:solidFill>
                  <a:srgbClr val="667085"/>
                </a:solidFill>
              </a:rPr>
              <a:t>10</a:t>
            </a:r>
            <a:endParaRPr lang="en-US" sz="900" dirty="0"/>
          </a:p>
        </p:txBody>
      </p:sp>
      <p:sp>
        <p:nvSpPr>
          <p:cNvPr id="4" name="Shape 2"/>
          <p:cNvSpPr/>
          <p:nvPr/>
        </p:nvSpPr>
        <p:spPr>
          <a:xfrm>
            <a:off x="594360" y="749808"/>
            <a:ext cx="11018520" cy="0"/>
          </a:xfrm>
          <a:prstGeom prst="line">
            <a:avLst/>
          </a:prstGeom>
          <a:noFill/>
          <a:ln w="7620">
            <a:solidFill>
              <a:srgbClr val="CDD5DF"/>
            </a:solidFill>
            <a:prstDash val="solid"/>
          </a:ln>
        </p:spPr>
      </p:sp>
      <p:sp>
        <p:nvSpPr>
          <p:cNvPr id="5" name="Text 3"/>
          <p:cNvSpPr/>
          <p:nvPr/>
        </p:nvSpPr>
        <p:spPr>
          <a:xfrm>
            <a:off x="621792" y="1033272"/>
            <a:ext cx="6537960" cy="987552"/>
          </a:xfrm>
          <a:prstGeom prst="rect">
            <a:avLst/>
          </a:prstGeom>
          <a:noFill/>
          <a:ln/>
        </p:spPr>
        <p:txBody>
          <a:bodyPr wrap="square" lIns="254" tIns="254" rIns="254" bIns="254" rtlCol="0" anchor="ctr">
            <a:normAutofit/>
          </a:bodyPr>
          <a:lstStyle/>
          <a:p>
            <a:pPr indent="0" marL="0">
              <a:buNone/>
            </a:pPr>
            <a:r>
              <a:rPr lang="en-US" sz="2800" b="1" dirty="0">
                <a:solidFill>
                  <a:srgbClr val="1F2933"/>
                </a:solidFill>
                <a:latin typeface="Aptos Display" pitchFamily="34" charset="0"/>
                <a:ea typeface="Aptos Display" pitchFamily="34" charset="-122"/>
                <a:cs typeface="Aptos Display" pitchFamily="34" charset="-120"/>
              </a:rPr>
              <a:t>The A-packet slows the sentence down long enough for structure to become visible.</a:t>
            </a:r>
            <a:endParaRPr lang="en-US" sz="2800" dirty="0"/>
          </a:p>
        </p:txBody>
      </p:sp>
      <p:sp>
        <p:nvSpPr>
          <p:cNvPr id="6" name="Text 4"/>
          <p:cNvSpPr/>
          <p:nvPr/>
        </p:nvSpPr>
        <p:spPr>
          <a:xfrm>
            <a:off x="777240" y="2240280"/>
            <a:ext cx="6172200" cy="2560320"/>
          </a:xfrm>
          <a:prstGeom prst="rect">
            <a:avLst/>
          </a:prstGeom>
          <a:noFill/>
          <a:ln/>
        </p:spPr>
        <p:txBody>
          <a:bodyPr wrap="square" lIns="254" tIns="254" rIns="254" bIns="254" rtlCol="0" anchor="ctr">
            <a:normAutofit/>
          </a:bodyPr>
          <a:lstStyle/>
          <a:p>
            <a:r>
              <a:rPr lang="en-US" sz="1540" dirty="0">
                <a:solidFill>
                  <a:srgbClr val="1F2933"/>
                </a:solidFill>
              </a:rPr>
              <a:t>Ordinary reading collapses quickly into meaning.</a:t>
            </a:r>
            <a:endParaRPr lang="en-US" sz="1540" dirty="0"/>
          </a:p>
          <a:p>
            <a:r>
              <a:rPr lang="en-US" sz="1540" dirty="0">
                <a:solidFill>
                  <a:srgbClr val="1F2933"/>
                </a:solidFill>
              </a:rPr>
              <a:t>A1–A6 interrupts that collapse.</a:t>
            </a:r>
            <a:endParaRPr lang="en-US" sz="1540" dirty="0"/>
          </a:p>
          <a:p>
            <a:r>
              <a:rPr lang="en-US" sz="1540" dirty="0">
                <a:solidFill>
                  <a:srgbClr val="1F2933"/>
                </a:solidFill>
              </a:rPr>
              <a:t>It asks what survived, what is governed, and what rival reading must not win.</a:t>
            </a:r>
            <a:endParaRPr lang="en-US" sz="1540" dirty="0"/>
          </a:p>
          <a:p>
            <a:r>
              <a:rPr lang="en-US" sz="1540" dirty="0">
                <a:solidFill>
                  <a:srgbClr val="1F2933"/>
                </a:solidFill>
              </a:rPr>
              <a:t>This creates inspectable evidence.</a:t>
            </a:r>
            <a:endParaRPr lang="en-US" sz="1540" dirty="0"/>
          </a:p>
        </p:txBody>
      </p:sp>
      <p:sp>
        <p:nvSpPr>
          <p:cNvPr id="7" name="Shape 5"/>
          <p:cNvSpPr/>
          <p:nvPr/>
        </p:nvSpPr>
        <p:spPr>
          <a:xfrm>
            <a:off x="7680960" y="2880360"/>
            <a:ext cx="384048" cy="384048"/>
          </a:xfrm>
          <a:prstGeom prst="ellipse">
            <a:avLst/>
          </a:prstGeom>
          <a:solidFill>
            <a:srgbClr val="E7F1EE"/>
          </a:solidFill>
          <a:ln w="8890">
            <a:solidFill>
              <a:srgbClr val="2F7D73"/>
            </a:solidFill>
            <a:prstDash val="solid"/>
          </a:ln>
        </p:spPr>
      </p:sp>
      <p:sp>
        <p:nvSpPr>
          <p:cNvPr id="8" name="Text 6"/>
          <p:cNvSpPr/>
          <p:nvPr/>
        </p:nvSpPr>
        <p:spPr>
          <a:xfrm>
            <a:off x="7680960" y="2962656"/>
            <a:ext cx="384048" cy="164592"/>
          </a:xfrm>
          <a:prstGeom prst="rect">
            <a:avLst/>
          </a:prstGeom>
          <a:noFill/>
          <a:ln/>
        </p:spPr>
        <p:txBody>
          <a:bodyPr wrap="square" lIns="762" tIns="762" rIns="762" bIns="762" rtlCol="0" anchor="ctr">
            <a:normAutofit/>
          </a:bodyPr>
          <a:lstStyle/>
          <a:p>
            <a:pPr algn="ctr" indent="0" marL="0">
              <a:buNone/>
            </a:pPr>
            <a:r>
              <a:rPr lang="en-US" sz="850" b="1" dirty="0">
                <a:solidFill>
                  <a:srgbClr val="1F2933"/>
                </a:solidFill>
                <a:latin typeface="Aptos" pitchFamily="34" charset="0"/>
                <a:ea typeface="Aptos" pitchFamily="34" charset="-122"/>
                <a:cs typeface="Aptos" pitchFamily="34" charset="-120"/>
              </a:rPr>
              <a:t>A1</a:t>
            </a:r>
            <a:endParaRPr lang="en-US" sz="850" dirty="0"/>
          </a:p>
        </p:txBody>
      </p:sp>
      <p:sp>
        <p:nvSpPr>
          <p:cNvPr id="9" name="Shape 7"/>
          <p:cNvSpPr/>
          <p:nvPr/>
        </p:nvSpPr>
        <p:spPr>
          <a:xfrm>
            <a:off x="8074152" y="3072384"/>
            <a:ext cx="137160" cy="0"/>
          </a:xfrm>
          <a:prstGeom prst="line">
            <a:avLst/>
          </a:prstGeom>
          <a:noFill/>
          <a:ln w="19050">
            <a:solidFill>
              <a:srgbClr val="2F7D73"/>
            </a:solidFill>
            <a:prstDash val="solid"/>
            <a:headEnd type="none"/>
            <a:tailEnd type="triangle"/>
          </a:ln>
        </p:spPr>
      </p:sp>
      <p:sp>
        <p:nvSpPr>
          <p:cNvPr id="10" name="Shape 8"/>
          <p:cNvSpPr/>
          <p:nvPr/>
        </p:nvSpPr>
        <p:spPr>
          <a:xfrm>
            <a:off x="8247888" y="2880360"/>
            <a:ext cx="384048" cy="384048"/>
          </a:xfrm>
          <a:prstGeom prst="ellipse">
            <a:avLst/>
          </a:prstGeom>
          <a:solidFill>
            <a:srgbClr val="E7F1EE"/>
          </a:solidFill>
          <a:ln w="8890">
            <a:solidFill>
              <a:srgbClr val="2F7D73"/>
            </a:solidFill>
            <a:prstDash val="solid"/>
          </a:ln>
        </p:spPr>
      </p:sp>
      <p:sp>
        <p:nvSpPr>
          <p:cNvPr id="11" name="Text 9"/>
          <p:cNvSpPr/>
          <p:nvPr/>
        </p:nvSpPr>
        <p:spPr>
          <a:xfrm>
            <a:off x="8247888" y="2962656"/>
            <a:ext cx="384048" cy="164592"/>
          </a:xfrm>
          <a:prstGeom prst="rect">
            <a:avLst/>
          </a:prstGeom>
          <a:noFill/>
          <a:ln/>
        </p:spPr>
        <p:txBody>
          <a:bodyPr wrap="square" lIns="762" tIns="762" rIns="762" bIns="762" rtlCol="0" anchor="ctr">
            <a:normAutofit/>
          </a:bodyPr>
          <a:lstStyle/>
          <a:p>
            <a:pPr algn="ctr" indent="0" marL="0">
              <a:buNone/>
            </a:pPr>
            <a:r>
              <a:rPr lang="en-US" sz="850" b="1" dirty="0">
                <a:solidFill>
                  <a:srgbClr val="1F2933"/>
                </a:solidFill>
                <a:latin typeface="Aptos" pitchFamily="34" charset="0"/>
                <a:ea typeface="Aptos" pitchFamily="34" charset="-122"/>
                <a:cs typeface="Aptos" pitchFamily="34" charset="-120"/>
              </a:rPr>
              <a:t>A2</a:t>
            </a:r>
            <a:endParaRPr lang="en-US" sz="850" dirty="0"/>
          </a:p>
        </p:txBody>
      </p:sp>
      <p:sp>
        <p:nvSpPr>
          <p:cNvPr id="12" name="Shape 10"/>
          <p:cNvSpPr/>
          <p:nvPr/>
        </p:nvSpPr>
        <p:spPr>
          <a:xfrm>
            <a:off x="8641080" y="3072384"/>
            <a:ext cx="137160" cy="0"/>
          </a:xfrm>
          <a:prstGeom prst="line">
            <a:avLst/>
          </a:prstGeom>
          <a:noFill/>
          <a:ln w="19050">
            <a:solidFill>
              <a:srgbClr val="2F7D73"/>
            </a:solidFill>
            <a:prstDash val="solid"/>
            <a:headEnd type="none"/>
            <a:tailEnd type="triangle"/>
          </a:ln>
        </p:spPr>
      </p:sp>
      <p:sp>
        <p:nvSpPr>
          <p:cNvPr id="13" name="Shape 11"/>
          <p:cNvSpPr/>
          <p:nvPr/>
        </p:nvSpPr>
        <p:spPr>
          <a:xfrm>
            <a:off x="8814816" y="2880360"/>
            <a:ext cx="384048" cy="384048"/>
          </a:xfrm>
          <a:prstGeom prst="ellipse">
            <a:avLst/>
          </a:prstGeom>
          <a:solidFill>
            <a:srgbClr val="E7F1EE"/>
          </a:solidFill>
          <a:ln w="8890">
            <a:solidFill>
              <a:srgbClr val="2F7D73"/>
            </a:solidFill>
            <a:prstDash val="solid"/>
          </a:ln>
        </p:spPr>
      </p:sp>
      <p:sp>
        <p:nvSpPr>
          <p:cNvPr id="14" name="Text 12"/>
          <p:cNvSpPr/>
          <p:nvPr/>
        </p:nvSpPr>
        <p:spPr>
          <a:xfrm>
            <a:off x="8814816" y="2962656"/>
            <a:ext cx="384048" cy="164592"/>
          </a:xfrm>
          <a:prstGeom prst="rect">
            <a:avLst/>
          </a:prstGeom>
          <a:noFill/>
          <a:ln/>
        </p:spPr>
        <p:txBody>
          <a:bodyPr wrap="square" lIns="762" tIns="762" rIns="762" bIns="762" rtlCol="0" anchor="ctr">
            <a:normAutofit/>
          </a:bodyPr>
          <a:lstStyle/>
          <a:p>
            <a:pPr algn="ctr" indent="0" marL="0">
              <a:buNone/>
            </a:pPr>
            <a:r>
              <a:rPr lang="en-US" sz="850" b="1" dirty="0">
                <a:solidFill>
                  <a:srgbClr val="1F2933"/>
                </a:solidFill>
                <a:latin typeface="Aptos" pitchFamily="34" charset="0"/>
                <a:ea typeface="Aptos" pitchFamily="34" charset="-122"/>
                <a:cs typeface="Aptos" pitchFamily="34" charset="-120"/>
              </a:rPr>
              <a:t>A3</a:t>
            </a:r>
            <a:endParaRPr lang="en-US" sz="850" dirty="0"/>
          </a:p>
        </p:txBody>
      </p:sp>
      <p:sp>
        <p:nvSpPr>
          <p:cNvPr id="15" name="Shape 13"/>
          <p:cNvSpPr/>
          <p:nvPr/>
        </p:nvSpPr>
        <p:spPr>
          <a:xfrm>
            <a:off x="9208008" y="3072384"/>
            <a:ext cx="137160" cy="0"/>
          </a:xfrm>
          <a:prstGeom prst="line">
            <a:avLst/>
          </a:prstGeom>
          <a:noFill/>
          <a:ln w="19050">
            <a:solidFill>
              <a:srgbClr val="2F7D73"/>
            </a:solidFill>
            <a:prstDash val="solid"/>
            <a:headEnd type="none"/>
            <a:tailEnd type="triangle"/>
          </a:ln>
        </p:spPr>
      </p:sp>
      <p:sp>
        <p:nvSpPr>
          <p:cNvPr id="16" name="Shape 14"/>
          <p:cNvSpPr/>
          <p:nvPr/>
        </p:nvSpPr>
        <p:spPr>
          <a:xfrm>
            <a:off x="9381744" y="2880360"/>
            <a:ext cx="384048" cy="384048"/>
          </a:xfrm>
          <a:prstGeom prst="ellipse">
            <a:avLst/>
          </a:prstGeom>
          <a:solidFill>
            <a:srgbClr val="E7F1EE"/>
          </a:solidFill>
          <a:ln w="8890">
            <a:solidFill>
              <a:srgbClr val="2F7D73"/>
            </a:solidFill>
            <a:prstDash val="solid"/>
          </a:ln>
        </p:spPr>
      </p:sp>
      <p:sp>
        <p:nvSpPr>
          <p:cNvPr id="17" name="Text 15"/>
          <p:cNvSpPr/>
          <p:nvPr/>
        </p:nvSpPr>
        <p:spPr>
          <a:xfrm>
            <a:off x="9381744" y="2962656"/>
            <a:ext cx="384048" cy="164592"/>
          </a:xfrm>
          <a:prstGeom prst="rect">
            <a:avLst/>
          </a:prstGeom>
          <a:noFill/>
          <a:ln/>
        </p:spPr>
        <p:txBody>
          <a:bodyPr wrap="square" lIns="762" tIns="762" rIns="762" bIns="762" rtlCol="0" anchor="ctr">
            <a:normAutofit/>
          </a:bodyPr>
          <a:lstStyle/>
          <a:p>
            <a:pPr algn="ctr" indent="0" marL="0">
              <a:buNone/>
            </a:pPr>
            <a:r>
              <a:rPr lang="en-US" sz="850" b="1" dirty="0">
                <a:solidFill>
                  <a:srgbClr val="1F2933"/>
                </a:solidFill>
                <a:latin typeface="Aptos" pitchFamily="34" charset="0"/>
                <a:ea typeface="Aptos" pitchFamily="34" charset="-122"/>
                <a:cs typeface="Aptos" pitchFamily="34" charset="-120"/>
              </a:rPr>
              <a:t>A4</a:t>
            </a:r>
            <a:endParaRPr lang="en-US" sz="850" dirty="0"/>
          </a:p>
        </p:txBody>
      </p:sp>
      <p:sp>
        <p:nvSpPr>
          <p:cNvPr id="18" name="Shape 16"/>
          <p:cNvSpPr/>
          <p:nvPr/>
        </p:nvSpPr>
        <p:spPr>
          <a:xfrm>
            <a:off x="9774936" y="3072384"/>
            <a:ext cx="137160" cy="0"/>
          </a:xfrm>
          <a:prstGeom prst="line">
            <a:avLst/>
          </a:prstGeom>
          <a:noFill/>
          <a:ln w="19050">
            <a:solidFill>
              <a:srgbClr val="2F7D73"/>
            </a:solidFill>
            <a:prstDash val="solid"/>
            <a:headEnd type="none"/>
            <a:tailEnd type="triangle"/>
          </a:ln>
        </p:spPr>
      </p:sp>
      <p:sp>
        <p:nvSpPr>
          <p:cNvPr id="19" name="Shape 17"/>
          <p:cNvSpPr/>
          <p:nvPr/>
        </p:nvSpPr>
        <p:spPr>
          <a:xfrm>
            <a:off x="9948672" y="2880360"/>
            <a:ext cx="384048" cy="384048"/>
          </a:xfrm>
          <a:prstGeom prst="ellipse">
            <a:avLst/>
          </a:prstGeom>
          <a:solidFill>
            <a:srgbClr val="E7F1EE"/>
          </a:solidFill>
          <a:ln w="8890">
            <a:solidFill>
              <a:srgbClr val="2F7D73"/>
            </a:solidFill>
            <a:prstDash val="solid"/>
          </a:ln>
        </p:spPr>
      </p:sp>
      <p:sp>
        <p:nvSpPr>
          <p:cNvPr id="20" name="Text 18"/>
          <p:cNvSpPr/>
          <p:nvPr/>
        </p:nvSpPr>
        <p:spPr>
          <a:xfrm>
            <a:off x="9948672" y="2962656"/>
            <a:ext cx="384048" cy="164592"/>
          </a:xfrm>
          <a:prstGeom prst="rect">
            <a:avLst/>
          </a:prstGeom>
          <a:noFill/>
          <a:ln/>
        </p:spPr>
        <p:txBody>
          <a:bodyPr wrap="square" lIns="762" tIns="762" rIns="762" bIns="762" rtlCol="0" anchor="ctr">
            <a:normAutofit/>
          </a:bodyPr>
          <a:lstStyle/>
          <a:p>
            <a:pPr algn="ctr" indent="0" marL="0">
              <a:buNone/>
            </a:pPr>
            <a:r>
              <a:rPr lang="en-US" sz="850" b="1" dirty="0">
                <a:solidFill>
                  <a:srgbClr val="1F2933"/>
                </a:solidFill>
                <a:latin typeface="Aptos" pitchFamily="34" charset="0"/>
                <a:ea typeface="Aptos" pitchFamily="34" charset="-122"/>
                <a:cs typeface="Aptos" pitchFamily="34" charset="-120"/>
              </a:rPr>
              <a:t>A5</a:t>
            </a:r>
            <a:endParaRPr lang="en-US" sz="850" dirty="0"/>
          </a:p>
        </p:txBody>
      </p:sp>
      <p:sp>
        <p:nvSpPr>
          <p:cNvPr id="21" name="Shape 19"/>
          <p:cNvSpPr/>
          <p:nvPr/>
        </p:nvSpPr>
        <p:spPr>
          <a:xfrm>
            <a:off x="10341864" y="3072384"/>
            <a:ext cx="137160" cy="0"/>
          </a:xfrm>
          <a:prstGeom prst="line">
            <a:avLst/>
          </a:prstGeom>
          <a:noFill/>
          <a:ln w="19050">
            <a:solidFill>
              <a:srgbClr val="2F7D73"/>
            </a:solidFill>
            <a:prstDash val="solid"/>
            <a:headEnd type="none"/>
            <a:tailEnd type="triangle"/>
          </a:ln>
        </p:spPr>
      </p:sp>
      <p:sp>
        <p:nvSpPr>
          <p:cNvPr id="22" name="Shape 20"/>
          <p:cNvSpPr/>
          <p:nvPr/>
        </p:nvSpPr>
        <p:spPr>
          <a:xfrm>
            <a:off x="10515600" y="2880360"/>
            <a:ext cx="384048" cy="384048"/>
          </a:xfrm>
          <a:prstGeom prst="ellipse">
            <a:avLst/>
          </a:prstGeom>
          <a:solidFill>
            <a:srgbClr val="F1E5D0"/>
          </a:solidFill>
          <a:ln w="8890">
            <a:solidFill>
              <a:srgbClr val="2F7D73"/>
            </a:solidFill>
            <a:prstDash val="solid"/>
          </a:ln>
        </p:spPr>
      </p:sp>
      <p:sp>
        <p:nvSpPr>
          <p:cNvPr id="23" name="Text 21"/>
          <p:cNvSpPr/>
          <p:nvPr/>
        </p:nvSpPr>
        <p:spPr>
          <a:xfrm>
            <a:off x="10515600" y="2962656"/>
            <a:ext cx="384048" cy="164592"/>
          </a:xfrm>
          <a:prstGeom prst="rect">
            <a:avLst/>
          </a:prstGeom>
          <a:noFill/>
          <a:ln/>
        </p:spPr>
        <p:txBody>
          <a:bodyPr wrap="square" lIns="762" tIns="762" rIns="762" bIns="762" rtlCol="0" anchor="ctr">
            <a:normAutofit/>
          </a:bodyPr>
          <a:lstStyle/>
          <a:p>
            <a:pPr algn="ctr" indent="0" marL="0">
              <a:buNone/>
            </a:pPr>
            <a:r>
              <a:rPr lang="en-US" sz="850" b="1" dirty="0">
                <a:solidFill>
                  <a:srgbClr val="1F2933"/>
                </a:solidFill>
                <a:latin typeface="Aptos" pitchFamily="34" charset="0"/>
                <a:ea typeface="Aptos" pitchFamily="34" charset="-122"/>
                <a:cs typeface="Aptos" pitchFamily="34" charset="-120"/>
              </a:rPr>
              <a:t>A6</a:t>
            </a:r>
            <a:endParaRPr lang="en-US" sz="850" dirty="0"/>
          </a:p>
        </p:txBody>
      </p:sp>
      <p:sp>
        <p:nvSpPr>
          <p:cNvPr id="24" name="Text 22"/>
          <p:cNvSpPr/>
          <p:nvPr/>
        </p:nvSpPr>
        <p:spPr>
          <a:xfrm>
            <a:off x="8001000" y="3611880"/>
            <a:ext cx="2834640" cy="320040"/>
          </a:xfrm>
          <a:prstGeom prst="rect">
            <a:avLst/>
          </a:prstGeom>
          <a:noFill/>
          <a:ln/>
        </p:spPr>
        <p:txBody>
          <a:bodyPr wrap="square" lIns="762" tIns="762" rIns="762" bIns="762" rtlCol="0" anchor="ctr">
            <a:normAutofit/>
          </a:bodyPr>
          <a:lstStyle/>
          <a:p>
            <a:pPr algn="ctr" indent="0" marL="0">
              <a:buNone/>
            </a:pPr>
            <a:r>
              <a:rPr lang="en-US" sz="1400" dirty="0">
                <a:solidFill>
                  <a:srgbClr val="667085"/>
                </a:solidFill>
                <a:latin typeface="Aptos" pitchFamily="34" charset="0"/>
                <a:ea typeface="Aptos" pitchFamily="34" charset="-122"/>
                <a:cs typeface="Aptos" pitchFamily="34" charset="-120"/>
              </a:rPr>
              <a:t>slow enough to inspect</a:t>
            </a:r>
            <a:endParaRPr lang="en-US" sz="1400" dirty="0"/>
          </a:p>
        </p:txBody>
      </p:sp>
      <p:sp>
        <p:nvSpPr>
          <p:cNvPr id="25" name="Text 23"/>
          <p:cNvSpPr/>
          <p:nvPr/>
        </p:nvSpPr>
        <p:spPr>
          <a:xfrm>
            <a:off x="594360" y="6473952"/>
            <a:ext cx="1920240" cy="201168"/>
          </a:xfrm>
          <a:prstGeom prst="rect">
            <a:avLst/>
          </a:prstGeom>
          <a:noFill/>
          <a:ln/>
        </p:spPr>
        <p:txBody>
          <a:bodyPr wrap="square" lIns="0" tIns="0" rIns="0" bIns="0" rtlCol="0" anchor="ctr"/>
          <a:lstStyle/>
          <a:p>
            <a:pPr indent="0" marL="0">
              <a:buNone/>
            </a:pPr>
            <a:r>
              <a:rPr lang="en-US" sz="850" dirty="0">
                <a:solidFill>
                  <a:srgbClr val="667085"/>
                </a:solidFill>
              </a:rPr>
              <a:t>Settlement Gate</a:t>
            </a:r>
            <a:endParaRPr lang="en-US" sz="850" dirty="0"/>
          </a:p>
        </p:txBody>
      </p:sp>
      <p:sp>
        <p:nvSpPr>
          <p:cNvPr id="26" name="Text 24"/>
          <p:cNvSpPr/>
          <p:nvPr/>
        </p:nvSpPr>
        <p:spPr>
          <a:xfrm>
            <a:off x="9281160" y="6473952"/>
            <a:ext cx="2331720" cy="201168"/>
          </a:xfrm>
          <a:prstGeom prst="rect">
            <a:avLst/>
          </a:prstGeom>
          <a:noFill/>
          <a:ln/>
        </p:spPr>
        <p:txBody>
          <a:bodyPr wrap="square" lIns="0" tIns="0" rIns="0" bIns="0" rtlCol="0" anchor="ctr"/>
          <a:lstStyle/>
          <a:p>
            <a:pPr algn="r" indent="0" marL="0">
              <a:buNone/>
            </a:pPr>
            <a:r>
              <a:rPr lang="en-US" sz="850" dirty="0">
                <a:solidFill>
                  <a:srgbClr val="667085"/>
                </a:solidFill>
              </a:rPr>
              <a:t>Protect → Validate → Build</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7EF"/>
        </a:solidFill>
      </p:bgPr>
    </p:bg>
    <p:spTree>
      <p:nvGrpSpPr>
        <p:cNvPr id="1" name=""/>
        <p:cNvGrpSpPr/>
        <p:nvPr/>
      </p:nvGrpSpPr>
      <p:grpSpPr>
        <a:xfrm>
          <a:off x="0" y="0"/>
          <a:ext cx="0" cy="0"/>
          <a:chOff x="0" y="0"/>
          <a:chExt cx="0" cy="0"/>
        </a:xfrm>
      </p:grpSpPr>
      <p:sp>
        <p:nvSpPr>
          <p:cNvPr id="2" name="Text 0"/>
          <p:cNvSpPr/>
          <p:nvPr/>
        </p:nvSpPr>
        <p:spPr>
          <a:xfrm>
            <a:off x="594360" y="310896"/>
            <a:ext cx="8046720" cy="320040"/>
          </a:xfrm>
          <a:prstGeom prst="rect">
            <a:avLst/>
          </a:prstGeom>
          <a:noFill/>
          <a:ln/>
        </p:spPr>
        <p:txBody>
          <a:bodyPr wrap="square" lIns="0" tIns="0" rIns="0" bIns="0" rtlCol="0" anchor="ctr"/>
          <a:lstStyle/>
          <a:p>
            <a:pPr indent="0" marL="0">
              <a:buNone/>
            </a:pPr>
            <a:r>
              <a:rPr lang="en-US" sz="2000" b="1" dirty="0">
                <a:solidFill>
                  <a:srgbClr val="2F7D73"/>
                </a:solidFill>
                <a:latin typeface="Aptos Display" pitchFamily="34" charset="0"/>
                <a:ea typeface="Aptos Display" pitchFamily="34" charset="-122"/>
                <a:cs typeface="Aptos Display" pitchFamily="34" charset="-120"/>
              </a:rPr>
              <a:t>Instrument, Not Theory</a:t>
            </a:r>
            <a:endParaRPr lang="en-US" sz="2000" dirty="0"/>
          </a:p>
        </p:txBody>
      </p:sp>
      <p:sp>
        <p:nvSpPr>
          <p:cNvPr id="3" name="Text 1"/>
          <p:cNvSpPr/>
          <p:nvPr/>
        </p:nvSpPr>
        <p:spPr>
          <a:xfrm>
            <a:off x="11109960" y="329184"/>
            <a:ext cx="457200" cy="256032"/>
          </a:xfrm>
          <a:prstGeom prst="rect">
            <a:avLst/>
          </a:prstGeom>
          <a:noFill/>
          <a:ln/>
        </p:spPr>
        <p:txBody>
          <a:bodyPr wrap="square" lIns="0" tIns="0" rIns="0" bIns="0" rtlCol="0" anchor="ctr"/>
          <a:lstStyle/>
          <a:p>
            <a:pPr algn="r" indent="0" marL="0">
              <a:buNone/>
            </a:pPr>
            <a:r>
              <a:rPr lang="en-US" sz="900" dirty="0">
                <a:solidFill>
                  <a:srgbClr val="667085"/>
                </a:solidFill>
              </a:rPr>
              <a:t>11</a:t>
            </a:r>
            <a:endParaRPr lang="en-US" sz="900" dirty="0"/>
          </a:p>
        </p:txBody>
      </p:sp>
      <p:sp>
        <p:nvSpPr>
          <p:cNvPr id="4" name="Shape 2"/>
          <p:cNvSpPr/>
          <p:nvPr/>
        </p:nvSpPr>
        <p:spPr>
          <a:xfrm>
            <a:off x="594360" y="749808"/>
            <a:ext cx="11018520" cy="0"/>
          </a:xfrm>
          <a:prstGeom prst="line">
            <a:avLst/>
          </a:prstGeom>
          <a:noFill/>
          <a:ln w="7620">
            <a:solidFill>
              <a:srgbClr val="CDD5DF"/>
            </a:solidFill>
            <a:prstDash val="solid"/>
          </a:ln>
        </p:spPr>
      </p:sp>
      <p:sp>
        <p:nvSpPr>
          <p:cNvPr id="5" name="Text 3"/>
          <p:cNvSpPr/>
          <p:nvPr/>
        </p:nvSpPr>
        <p:spPr>
          <a:xfrm>
            <a:off x="621792" y="1033272"/>
            <a:ext cx="6537960" cy="987552"/>
          </a:xfrm>
          <a:prstGeom prst="rect">
            <a:avLst/>
          </a:prstGeom>
          <a:noFill/>
          <a:ln/>
        </p:spPr>
        <p:txBody>
          <a:bodyPr wrap="square" lIns="254" tIns="254" rIns="254" bIns="254" rtlCol="0" anchor="ctr">
            <a:normAutofit/>
          </a:bodyPr>
          <a:lstStyle/>
          <a:p>
            <a:pPr indent="0" marL="0">
              <a:buNone/>
            </a:pPr>
            <a:r>
              <a:rPr lang="en-US" sz="2800" b="1" dirty="0">
                <a:solidFill>
                  <a:srgbClr val="1F2933"/>
                </a:solidFill>
                <a:latin typeface="Aptos Display" pitchFamily="34" charset="0"/>
                <a:ea typeface="Aptos Display" pitchFamily="34" charset="-122"/>
                <a:cs typeface="Aptos Display" pitchFamily="34" charset="-120"/>
              </a:rPr>
              <a:t>A1 to A6 is not the theory. It is the instrument that lets us see the theory.</a:t>
            </a:r>
            <a:endParaRPr lang="en-US" sz="2800" dirty="0"/>
          </a:p>
        </p:txBody>
      </p:sp>
      <p:sp>
        <p:nvSpPr>
          <p:cNvPr id="6" name="Text 4"/>
          <p:cNvSpPr/>
          <p:nvPr/>
        </p:nvSpPr>
        <p:spPr>
          <a:xfrm>
            <a:off x="777240" y="2240280"/>
            <a:ext cx="6172200" cy="2560320"/>
          </a:xfrm>
          <a:prstGeom prst="rect">
            <a:avLst/>
          </a:prstGeom>
          <a:noFill/>
          <a:ln/>
        </p:spPr>
        <p:txBody>
          <a:bodyPr wrap="square" lIns="254" tIns="254" rIns="254" bIns="254" rtlCol="0" anchor="ctr">
            <a:normAutofit/>
          </a:bodyPr>
          <a:lstStyle/>
          <a:p>
            <a:r>
              <a:rPr lang="en-US" sz="1540" dirty="0">
                <a:solidFill>
                  <a:srgbClr val="1F2933"/>
                </a:solidFill>
              </a:rPr>
              <a:t>A1–A6 is a method of inspection.</a:t>
            </a:r>
            <a:endParaRPr lang="en-US" sz="1540" dirty="0"/>
          </a:p>
          <a:p>
            <a:r>
              <a:rPr lang="en-US" sz="1540" dirty="0">
                <a:solidFill>
                  <a:srgbClr val="1F2933"/>
                </a:solidFill>
              </a:rPr>
              <a:t>It does not require showing all 54 cells.</a:t>
            </a:r>
            <a:endParaRPr lang="en-US" sz="1540" dirty="0"/>
          </a:p>
          <a:p>
            <a:r>
              <a:rPr lang="en-US" sz="1540" dirty="0">
                <a:solidFill>
                  <a:srgbClr val="1F2933"/>
                </a:solidFill>
              </a:rPr>
              <a:t>It helps humans and machines avoid surface capture.</a:t>
            </a:r>
            <a:endParaRPr lang="en-US" sz="1540" dirty="0"/>
          </a:p>
          <a:p>
            <a:r>
              <a:rPr lang="en-US" sz="1540" dirty="0">
                <a:solidFill>
                  <a:srgbClr val="1F2933"/>
                </a:solidFill>
              </a:rPr>
              <a:t>The instrument makes the claim testable.</a:t>
            </a:r>
            <a:endParaRPr lang="en-US" sz="1540" dirty="0"/>
          </a:p>
        </p:txBody>
      </p:sp>
      <p:sp>
        <p:nvSpPr>
          <p:cNvPr id="7" name="Shape 5"/>
          <p:cNvSpPr/>
          <p:nvPr/>
        </p:nvSpPr>
        <p:spPr>
          <a:xfrm>
            <a:off x="8458200" y="2423160"/>
            <a:ext cx="1234440" cy="1234440"/>
          </a:xfrm>
          <a:prstGeom prst="ellipse">
            <a:avLst/>
          </a:prstGeom>
          <a:solidFill>
            <a:srgbClr val="FFFFFF">
              <a:alpha val="85000"/>
            </a:srgbClr>
          </a:solidFill>
          <a:ln w="25400">
            <a:solidFill>
              <a:srgbClr val="2F7D73"/>
            </a:solidFill>
            <a:prstDash val="solid"/>
          </a:ln>
        </p:spPr>
      </p:sp>
      <p:sp>
        <p:nvSpPr>
          <p:cNvPr id="8" name="Shape 6"/>
          <p:cNvSpPr/>
          <p:nvPr/>
        </p:nvSpPr>
        <p:spPr>
          <a:xfrm>
            <a:off x="9875520" y="3794760"/>
            <a:ext cx="685800" cy="502920"/>
          </a:xfrm>
          <a:prstGeom prst="line">
            <a:avLst/>
          </a:prstGeom>
          <a:noFill/>
          <a:ln w="38100">
            <a:solidFill>
              <a:srgbClr val="2F7D73"/>
            </a:solidFill>
            <a:prstDash val="solid"/>
          </a:ln>
        </p:spPr>
      </p:sp>
      <p:sp>
        <p:nvSpPr>
          <p:cNvPr id="9" name="Shape 7"/>
          <p:cNvSpPr/>
          <p:nvPr/>
        </p:nvSpPr>
        <p:spPr>
          <a:xfrm>
            <a:off x="8001000" y="4343400"/>
            <a:ext cx="1188720" cy="457200"/>
          </a:xfrm>
          <a:prstGeom prst="roundRect">
            <a:avLst>
              <a:gd name="adj" fmla="val 24000"/>
            </a:avLst>
          </a:prstGeom>
          <a:solidFill>
            <a:srgbClr val="F1E5D0"/>
          </a:solidFill>
          <a:ln w="8890">
            <a:solidFill>
              <a:srgbClr val="2F7D73"/>
            </a:solidFill>
            <a:prstDash val="solid"/>
          </a:ln>
        </p:spPr>
      </p:sp>
      <p:sp>
        <p:nvSpPr>
          <p:cNvPr id="10" name="Text 8"/>
          <p:cNvSpPr/>
          <p:nvPr/>
        </p:nvSpPr>
        <p:spPr>
          <a:xfrm>
            <a:off x="8037576" y="4398264"/>
            <a:ext cx="1115568" cy="347472"/>
          </a:xfrm>
          <a:prstGeom prst="rect">
            <a:avLst/>
          </a:prstGeom>
          <a:noFill/>
          <a:ln/>
        </p:spPr>
        <p:txBody>
          <a:bodyPr wrap="square" lIns="762" tIns="762" rIns="762" bIns="762" rtlCol="0" anchor="ctr">
            <a:normAutofit/>
          </a:bodyPr>
          <a:lstStyle/>
          <a:p>
            <a:pPr algn="ctr" indent="0" marL="0">
              <a:buNone/>
            </a:pPr>
            <a:r>
              <a:rPr lang="en-US" sz="1400" b="1" dirty="0">
                <a:solidFill>
                  <a:srgbClr val="1F2933"/>
                </a:solidFill>
                <a:latin typeface="Aptos" pitchFamily="34" charset="0"/>
                <a:ea typeface="Aptos" pitchFamily="34" charset="-122"/>
                <a:cs typeface="Aptos" pitchFamily="34" charset="-120"/>
              </a:rPr>
              <a:t>A1–A6</a:t>
            </a:r>
            <a:endParaRPr lang="en-US" sz="1400" dirty="0"/>
          </a:p>
        </p:txBody>
      </p:sp>
      <p:sp>
        <p:nvSpPr>
          <p:cNvPr id="11" name="Text 9"/>
          <p:cNvSpPr/>
          <p:nvPr/>
        </p:nvSpPr>
        <p:spPr>
          <a:xfrm>
            <a:off x="9326880" y="4389120"/>
            <a:ext cx="1600200" cy="292608"/>
          </a:xfrm>
          <a:prstGeom prst="rect">
            <a:avLst/>
          </a:prstGeom>
          <a:noFill/>
          <a:ln/>
        </p:spPr>
        <p:txBody>
          <a:bodyPr wrap="square" lIns="762" tIns="762" rIns="762" bIns="762" rtlCol="0" anchor="ctr">
            <a:normAutofit/>
          </a:bodyPr>
          <a:lstStyle/>
          <a:p>
            <a:pPr algn="ctr" indent="0" marL="0">
              <a:buNone/>
            </a:pPr>
            <a:r>
              <a:rPr lang="en-US" sz="1400" dirty="0">
                <a:solidFill>
                  <a:srgbClr val="667085"/>
                </a:solidFill>
                <a:latin typeface="Aptos" pitchFamily="34" charset="0"/>
                <a:ea typeface="Aptos" pitchFamily="34" charset="-122"/>
                <a:cs typeface="Aptos" pitchFamily="34" charset="-120"/>
              </a:rPr>
              <a:t>instrument</a:t>
            </a:r>
            <a:endParaRPr lang="en-US" sz="1400" dirty="0"/>
          </a:p>
        </p:txBody>
      </p:sp>
      <p:sp>
        <p:nvSpPr>
          <p:cNvPr id="12" name="Text 10"/>
          <p:cNvSpPr/>
          <p:nvPr/>
        </p:nvSpPr>
        <p:spPr>
          <a:xfrm>
            <a:off x="594360" y="6473952"/>
            <a:ext cx="1920240" cy="201168"/>
          </a:xfrm>
          <a:prstGeom prst="rect">
            <a:avLst/>
          </a:prstGeom>
          <a:noFill/>
          <a:ln/>
        </p:spPr>
        <p:txBody>
          <a:bodyPr wrap="square" lIns="0" tIns="0" rIns="0" bIns="0" rtlCol="0" anchor="ctr"/>
          <a:lstStyle/>
          <a:p>
            <a:pPr indent="0" marL="0">
              <a:buNone/>
            </a:pPr>
            <a:r>
              <a:rPr lang="en-US" sz="850" dirty="0">
                <a:solidFill>
                  <a:srgbClr val="667085"/>
                </a:solidFill>
              </a:rPr>
              <a:t>Settlement Gate</a:t>
            </a:r>
            <a:endParaRPr lang="en-US" sz="850" dirty="0"/>
          </a:p>
        </p:txBody>
      </p:sp>
      <p:sp>
        <p:nvSpPr>
          <p:cNvPr id="13" name="Text 11"/>
          <p:cNvSpPr/>
          <p:nvPr/>
        </p:nvSpPr>
        <p:spPr>
          <a:xfrm>
            <a:off x="9281160" y="6473952"/>
            <a:ext cx="2331720" cy="201168"/>
          </a:xfrm>
          <a:prstGeom prst="rect">
            <a:avLst/>
          </a:prstGeom>
          <a:noFill/>
          <a:ln/>
        </p:spPr>
        <p:txBody>
          <a:bodyPr wrap="square" lIns="0" tIns="0" rIns="0" bIns="0" rtlCol="0" anchor="ctr"/>
          <a:lstStyle/>
          <a:p>
            <a:pPr algn="r" indent="0" marL="0">
              <a:buNone/>
            </a:pPr>
            <a:r>
              <a:rPr lang="en-US" sz="850" dirty="0">
                <a:solidFill>
                  <a:srgbClr val="667085"/>
                </a:solidFill>
              </a:rPr>
              <a:t>Protect → Validate → Build</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7EF"/>
        </a:solidFill>
      </p:bgPr>
    </p:bg>
    <p:spTree>
      <p:nvGrpSpPr>
        <p:cNvPr id="1" name=""/>
        <p:cNvGrpSpPr/>
        <p:nvPr/>
      </p:nvGrpSpPr>
      <p:grpSpPr>
        <a:xfrm>
          <a:off x="0" y="0"/>
          <a:ext cx="0" cy="0"/>
          <a:chOff x="0" y="0"/>
          <a:chExt cx="0" cy="0"/>
        </a:xfrm>
      </p:grpSpPr>
      <p:sp>
        <p:nvSpPr>
          <p:cNvPr id="2" name="Text 0"/>
          <p:cNvSpPr/>
          <p:nvPr/>
        </p:nvSpPr>
        <p:spPr>
          <a:xfrm>
            <a:off x="594360" y="310896"/>
            <a:ext cx="8046720" cy="320040"/>
          </a:xfrm>
          <a:prstGeom prst="rect">
            <a:avLst/>
          </a:prstGeom>
          <a:noFill/>
          <a:ln/>
        </p:spPr>
        <p:txBody>
          <a:bodyPr wrap="square" lIns="0" tIns="0" rIns="0" bIns="0" rtlCol="0" anchor="ctr"/>
          <a:lstStyle/>
          <a:p>
            <a:pPr indent="0" marL="0">
              <a:buNone/>
            </a:pPr>
            <a:r>
              <a:rPr lang="en-US" sz="2000" b="1" dirty="0">
                <a:solidFill>
                  <a:srgbClr val="2F7D73"/>
                </a:solidFill>
                <a:latin typeface="Aptos Display" pitchFamily="34" charset="0"/>
                <a:ea typeface="Aptos Display" pitchFamily="34" charset="-122"/>
                <a:cs typeface="Aptos Display" pitchFamily="34" charset="-120"/>
              </a:rPr>
              <a:t>Sentence Receipts</a:t>
            </a:r>
            <a:endParaRPr lang="en-US" sz="2000" dirty="0"/>
          </a:p>
        </p:txBody>
      </p:sp>
      <p:sp>
        <p:nvSpPr>
          <p:cNvPr id="3" name="Text 1"/>
          <p:cNvSpPr/>
          <p:nvPr/>
        </p:nvSpPr>
        <p:spPr>
          <a:xfrm>
            <a:off x="11109960" y="329184"/>
            <a:ext cx="457200" cy="256032"/>
          </a:xfrm>
          <a:prstGeom prst="rect">
            <a:avLst/>
          </a:prstGeom>
          <a:noFill/>
          <a:ln/>
        </p:spPr>
        <p:txBody>
          <a:bodyPr wrap="square" lIns="0" tIns="0" rIns="0" bIns="0" rtlCol="0" anchor="ctr"/>
          <a:lstStyle/>
          <a:p>
            <a:pPr algn="r" indent="0" marL="0">
              <a:buNone/>
            </a:pPr>
            <a:r>
              <a:rPr lang="en-US" sz="900" dirty="0">
                <a:solidFill>
                  <a:srgbClr val="667085"/>
                </a:solidFill>
              </a:rPr>
              <a:t>12</a:t>
            </a:r>
            <a:endParaRPr lang="en-US" sz="900" dirty="0"/>
          </a:p>
        </p:txBody>
      </p:sp>
      <p:sp>
        <p:nvSpPr>
          <p:cNvPr id="4" name="Shape 2"/>
          <p:cNvSpPr/>
          <p:nvPr/>
        </p:nvSpPr>
        <p:spPr>
          <a:xfrm>
            <a:off x="594360" y="749808"/>
            <a:ext cx="11018520" cy="0"/>
          </a:xfrm>
          <a:prstGeom prst="line">
            <a:avLst/>
          </a:prstGeom>
          <a:noFill/>
          <a:ln w="7620">
            <a:solidFill>
              <a:srgbClr val="CDD5DF"/>
            </a:solidFill>
            <a:prstDash val="solid"/>
          </a:ln>
        </p:spPr>
      </p:sp>
      <p:sp>
        <p:nvSpPr>
          <p:cNvPr id="5" name="Text 3"/>
          <p:cNvSpPr/>
          <p:nvPr/>
        </p:nvSpPr>
        <p:spPr>
          <a:xfrm>
            <a:off x="621792" y="1033272"/>
            <a:ext cx="6537960" cy="987552"/>
          </a:xfrm>
          <a:prstGeom prst="rect">
            <a:avLst/>
          </a:prstGeom>
          <a:noFill/>
          <a:ln/>
        </p:spPr>
        <p:txBody>
          <a:bodyPr wrap="square" lIns="254" tIns="254" rIns="254" bIns="254" rtlCol="0" anchor="ctr">
            <a:normAutofit/>
          </a:bodyPr>
          <a:lstStyle/>
          <a:p>
            <a:pPr indent="0" marL="0">
              <a:buNone/>
            </a:pPr>
            <a:r>
              <a:rPr lang="en-US" sz="2800" b="1" dirty="0">
                <a:solidFill>
                  <a:srgbClr val="1F2933"/>
                </a:solidFill>
                <a:latin typeface="Aptos Display" pitchFamily="34" charset="0"/>
                <a:ea typeface="Aptos Display" pitchFamily="34" charset="-122"/>
                <a:cs typeface="Aptos Display" pitchFamily="34" charset="-120"/>
              </a:rPr>
              <a:t>A receipt is what remains when a sentence has shown its commitments.</a:t>
            </a:r>
            <a:endParaRPr lang="en-US" sz="2800" dirty="0"/>
          </a:p>
        </p:txBody>
      </p:sp>
      <p:sp>
        <p:nvSpPr>
          <p:cNvPr id="6" name="Text 4"/>
          <p:cNvSpPr/>
          <p:nvPr/>
        </p:nvSpPr>
        <p:spPr>
          <a:xfrm>
            <a:off x="777240" y="2240280"/>
            <a:ext cx="6172200" cy="2560320"/>
          </a:xfrm>
          <a:prstGeom prst="rect">
            <a:avLst/>
          </a:prstGeom>
          <a:noFill/>
          <a:ln/>
        </p:spPr>
        <p:txBody>
          <a:bodyPr wrap="square" lIns="254" tIns="254" rIns="254" bIns="254" rtlCol="0" anchor="ctr">
            <a:normAutofit/>
          </a:bodyPr>
          <a:lstStyle/>
          <a:p>
            <a:r>
              <a:rPr lang="en-US" sz="1540" dirty="0">
                <a:solidFill>
                  <a:srgbClr val="1F2933"/>
                </a:solidFill>
              </a:rPr>
              <a:t>A receipt is not a summary.</a:t>
            </a:r>
            <a:endParaRPr lang="en-US" sz="1540" dirty="0"/>
          </a:p>
          <a:p>
            <a:r>
              <a:rPr lang="en-US" sz="1540" dirty="0">
                <a:solidFill>
                  <a:srgbClr val="1F2933"/>
                </a:solidFill>
              </a:rPr>
              <a:t>It records what the sentence settled.</a:t>
            </a:r>
            <a:endParaRPr lang="en-US" sz="1540" dirty="0"/>
          </a:p>
          <a:p>
            <a:r>
              <a:rPr lang="en-US" sz="1540" dirty="0">
                <a:solidFill>
                  <a:srgbClr val="1F2933"/>
                </a:solidFill>
              </a:rPr>
              <a:t>It records what rival reading was blocked.</a:t>
            </a:r>
            <a:endParaRPr lang="en-US" sz="1540" dirty="0"/>
          </a:p>
          <a:p>
            <a:r>
              <a:rPr lang="en-US" sz="1540" dirty="0">
                <a:solidFill>
                  <a:srgbClr val="1F2933"/>
                </a:solidFill>
              </a:rPr>
              <a:t>It can support proceed / revise / escalate / block decisions.</a:t>
            </a:r>
            <a:endParaRPr lang="en-US" sz="1540" dirty="0"/>
          </a:p>
        </p:txBody>
      </p:sp>
      <p:sp>
        <p:nvSpPr>
          <p:cNvPr id="7" name="Text 5"/>
          <p:cNvSpPr/>
          <p:nvPr/>
        </p:nvSpPr>
        <p:spPr>
          <a:xfrm>
            <a:off x="8686800" y="2194560"/>
            <a:ext cx="1508760" cy="320040"/>
          </a:xfrm>
          <a:prstGeom prst="rect">
            <a:avLst/>
          </a:prstGeom>
          <a:noFill/>
          <a:ln/>
        </p:spPr>
        <p:txBody>
          <a:bodyPr wrap="square" lIns="762" tIns="762" rIns="762" bIns="762" rtlCol="0" anchor="ctr">
            <a:normAutofit/>
          </a:bodyPr>
          <a:lstStyle/>
          <a:p>
            <a:pPr algn="ctr" indent="0" marL="0">
              <a:buNone/>
            </a:pPr>
            <a:r>
              <a:rPr lang="en-US" sz="1800" b="1" dirty="0">
                <a:solidFill>
                  <a:srgbClr val="2F7D73"/>
                </a:solidFill>
                <a:latin typeface="Aptos" pitchFamily="34" charset="0"/>
                <a:ea typeface="Aptos" pitchFamily="34" charset="-122"/>
                <a:cs typeface="Aptos" pitchFamily="34" charset="-120"/>
              </a:rPr>
              <a:t>RECEIPT</a:t>
            </a:r>
            <a:endParaRPr lang="en-US" sz="1800" dirty="0"/>
          </a:p>
        </p:txBody>
      </p:sp>
      <p:sp>
        <p:nvSpPr>
          <p:cNvPr id="8" name="Shape 6"/>
          <p:cNvSpPr/>
          <p:nvPr/>
        </p:nvSpPr>
        <p:spPr>
          <a:xfrm>
            <a:off x="8503920" y="2788920"/>
            <a:ext cx="1920240" cy="0"/>
          </a:xfrm>
          <a:prstGeom prst="line">
            <a:avLst/>
          </a:prstGeom>
          <a:noFill/>
          <a:ln w="12700">
            <a:solidFill>
              <a:srgbClr val="CDD5DF"/>
            </a:solidFill>
            <a:prstDash val="solid"/>
          </a:ln>
        </p:spPr>
      </p:sp>
      <p:sp>
        <p:nvSpPr>
          <p:cNvPr id="9" name="Text 7"/>
          <p:cNvSpPr/>
          <p:nvPr/>
        </p:nvSpPr>
        <p:spPr>
          <a:xfrm>
            <a:off x="8595360" y="2871216"/>
            <a:ext cx="1737360" cy="219456"/>
          </a:xfrm>
          <a:prstGeom prst="rect">
            <a:avLst/>
          </a:prstGeom>
          <a:noFill/>
          <a:ln/>
        </p:spPr>
        <p:txBody>
          <a:bodyPr wrap="square" lIns="762" tIns="762" rIns="762" bIns="762" rtlCol="0" anchor="ctr">
            <a:normAutofit/>
          </a:bodyPr>
          <a:lstStyle/>
          <a:p>
            <a:pPr algn="ctr" indent="0" marL="0">
              <a:buNone/>
            </a:pPr>
            <a:r>
              <a:rPr lang="en-US" sz="1200" dirty="0">
                <a:solidFill>
                  <a:srgbClr val="1F2933"/>
                </a:solidFill>
                <a:latin typeface="Aptos" pitchFamily="34" charset="0"/>
                <a:ea typeface="Aptos" pitchFamily="34" charset="-122"/>
                <a:cs typeface="Aptos" pitchFamily="34" charset="-120"/>
              </a:rPr>
              <a:t>Claim</a:t>
            </a:r>
            <a:endParaRPr lang="en-US" sz="1200" dirty="0"/>
          </a:p>
        </p:txBody>
      </p:sp>
      <p:sp>
        <p:nvSpPr>
          <p:cNvPr id="10" name="Shape 8"/>
          <p:cNvSpPr/>
          <p:nvPr/>
        </p:nvSpPr>
        <p:spPr>
          <a:xfrm>
            <a:off x="8503920" y="3246120"/>
            <a:ext cx="1920240" cy="0"/>
          </a:xfrm>
          <a:prstGeom prst="line">
            <a:avLst/>
          </a:prstGeom>
          <a:noFill/>
          <a:ln w="12700">
            <a:solidFill>
              <a:srgbClr val="CDD5DF"/>
            </a:solidFill>
            <a:prstDash val="solid"/>
          </a:ln>
        </p:spPr>
      </p:sp>
      <p:sp>
        <p:nvSpPr>
          <p:cNvPr id="11" name="Text 9"/>
          <p:cNvSpPr/>
          <p:nvPr/>
        </p:nvSpPr>
        <p:spPr>
          <a:xfrm>
            <a:off x="8595360" y="3328416"/>
            <a:ext cx="1737360" cy="219456"/>
          </a:xfrm>
          <a:prstGeom prst="rect">
            <a:avLst/>
          </a:prstGeom>
          <a:noFill/>
          <a:ln/>
        </p:spPr>
        <p:txBody>
          <a:bodyPr wrap="square" lIns="762" tIns="762" rIns="762" bIns="762" rtlCol="0" anchor="ctr">
            <a:normAutofit/>
          </a:bodyPr>
          <a:lstStyle/>
          <a:p>
            <a:pPr algn="ctr" indent="0" marL="0">
              <a:buNone/>
            </a:pPr>
            <a:r>
              <a:rPr lang="en-US" sz="1200" dirty="0">
                <a:solidFill>
                  <a:srgbClr val="1F2933"/>
                </a:solidFill>
                <a:latin typeface="Aptos" pitchFamily="34" charset="0"/>
                <a:ea typeface="Aptos" pitchFamily="34" charset="-122"/>
                <a:cs typeface="Aptos" pitchFamily="34" charset="-120"/>
              </a:rPr>
              <a:t>Scope</a:t>
            </a:r>
            <a:endParaRPr lang="en-US" sz="1200" dirty="0"/>
          </a:p>
        </p:txBody>
      </p:sp>
      <p:sp>
        <p:nvSpPr>
          <p:cNvPr id="12" name="Shape 10"/>
          <p:cNvSpPr/>
          <p:nvPr/>
        </p:nvSpPr>
        <p:spPr>
          <a:xfrm>
            <a:off x="8503920" y="3703320"/>
            <a:ext cx="1920240" cy="0"/>
          </a:xfrm>
          <a:prstGeom prst="line">
            <a:avLst/>
          </a:prstGeom>
          <a:noFill/>
          <a:ln w="12700">
            <a:solidFill>
              <a:srgbClr val="CDD5DF"/>
            </a:solidFill>
            <a:prstDash val="solid"/>
          </a:ln>
        </p:spPr>
      </p:sp>
      <p:sp>
        <p:nvSpPr>
          <p:cNvPr id="13" name="Text 11"/>
          <p:cNvSpPr/>
          <p:nvPr/>
        </p:nvSpPr>
        <p:spPr>
          <a:xfrm>
            <a:off x="8595360" y="3785616"/>
            <a:ext cx="1737360" cy="219456"/>
          </a:xfrm>
          <a:prstGeom prst="rect">
            <a:avLst/>
          </a:prstGeom>
          <a:noFill/>
          <a:ln/>
        </p:spPr>
        <p:txBody>
          <a:bodyPr wrap="square" lIns="762" tIns="762" rIns="762" bIns="762" rtlCol="0" anchor="ctr">
            <a:normAutofit/>
          </a:bodyPr>
          <a:lstStyle/>
          <a:p>
            <a:pPr algn="ctr" indent="0" marL="0">
              <a:buNone/>
            </a:pPr>
            <a:r>
              <a:rPr lang="en-US" sz="1200" dirty="0">
                <a:solidFill>
                  <a:srgbClr val="1F2933"/>
                </a:solidFill>
                <a:latin typeface="Aptos" pitchFamily="34" charset="0"/>
                <a:ea typeface="Aptos" pitchFamily="34" charset="-122"/>
                <a:cs typeface="Aptos" pitchFamily="34" charset="-120"/>
              </a:rPr>
              <a:t>Condition</a:t>
            </a:r>
            <a:endParaRPr lang="en-US" sz="1200" dirty="0"/>
          </a:p>
        </p:txBody>
      </p:sp>
      <p:sp>
        <p:nvSpPr>
          <p:cNvPr id="14" name="Shape 12"/>
          <p:cNvSpPr/>
          <p:nvPr/>
        </p:nvSpPr>
        <p:spPr>
          <a:xfrm>
            <a:off x="8503920" y="4160520"/>
            <a:ext cx="1920240" cy="0"/>
          </a:xfrm>
          <a:prstGeom prst="line">
            <a:avLst/>
          </a:prstGeom>
          <a:noFill/>
          <a:ln w="12700">
            <a:solidFill>
              <a:srgbClr val="CDD5DF"/>
            </a:solidFill>
            <a:prstDash val="solid"/>
          </a:ln>
        </p:spPr>
      </p:sp>
      <p:sp>
        <p:nvSpPr>
          <p:cNvPr id="15" name="Text 13"/>
          <p:cNvSpPr/>
          <p:nvPr/>
        </p:nvSpPr>
        <p:spPr>
          <a:xfrm>
            <a:off x="8595360" y="4242816"/>
            <a:ext cx="1737360" cy="219456"/>
          </a:xfrm>
          <a:prstGeom prst="rect">
            <a:avLst/>
          </a:prstGeom>
          <a:noFill/>
          <a:ln/>
        </p:spPr>
        <p:txBody>
          <a:bodyPr wrap="square" lIns="762" tIns="762" rIns="762" bIns="762" rtlCol="0" anchor="ctr">
            <a:normAutofit/>
          </a:bodyPr>
          <a:lstStyle/>
          <a:p>
            <a:pPr algn="ctr" indent="0" marL="0">
              <a:buNone/>
            </a:pPr>
            <a:r>
              <a:rPr lang="en-US" sz="1200" dirty="0">
                <a:solidFill>
                  <a:srgbClr val="1F2933"/>
                </a:solidFill>
                <a:latin typeface="Aptos" pitchFamily="34" charset="0"/>
                <a:ea typeface="Aptos" pitchFamily="34" charset="-122"/>
                <a:cs typeface="Aptos" pitchFamily="34" charset="-120"/>
              </a:rPr>
              <a:t>Rival blocked</a:t>
            </a:r>
            <a:endParaRPr lang="en-US" sz="1200" dirty="0"/>
          </a:p>
        </p:txBody>
      </p:sp>
      <p:sp>
        <p:nvSpPr>
          <p:cNvPr id="16" name="Text 14"/>
          <p:cNvSpPr/>
          <p:nvPr/>
        </p:nvSpPr>
        <p:spPr>
          <a:xfrm>
            <a:off x="594360" y="6473952"/>
            <a:ext cx="1920240" cy="201168"/>
          </a:xfrm>
          <a:prstGeom prst="rect">
            <a:avLst/>
          </a:prstGeom>
          <a:noFill/>
          <a:ln/>
        </p:spPr>
        <p:txBody>
          <a:bodyPr wrap="square" lIns="0" tIns="0" rIns="0" bIns="0" rtlCol="0" anchor="ctr"/>
          <a:lstStyle/>
          <a:p>
            <a:pPr indent="0" marL="0">
              <a:buNone/>
            </a:pPr>
            <a:r>
              <a:rPr lang="en-US" sz="850" dirty="0">
                <a:solidFill>
                  <a:srgbClr val="667085"/>
                </a:solidFill>
              </a:rPr>
              <a:t>Settlement Gate</a:t>
            </a:r>
            <a:endParaRPr lang="en-US" sz="850" dirty="0"/>
          </a:p>
        </p:txBody>
      </p:sp>
      <p:sp>
        <p:nvSpPr>
          <p:cNvPr id="17" name="Text 15"/>
          <p:cNvSpPr/>
          <p:nvPr/>
        </p:nvSpPr>
        <p:spPr>
          <a:xfrm>
            <a:off x="9281160" y="6473952"/>
            <a:ext cx="2331720" cy="201168"/>
          </a:xfrm>
          <a:prstGeom prst="rect">
            <a:avLst/>
          </a:prstGeom>
          <a:noFill/>
          <a:ln/>
        </p:spPr>
        <p:txBody>
          <a:bodyPr wrap="square" lIns="0" tIns="0" rIns="0" bIns="0" rtlCol="0" anchor="ctr"/>
          <a:lstStyle/>
          <a:p>
            <a:pPr algn="r" indent="0" marL="0">
              <a:buNone/>
            </a:pPr>
            <a:r>
              <a:rPr lang="en-US" sz="850" dirty="0">
                <a:solidFill>
                  <a:srgbClr val="667085"/>
                </a:solidFill>
              </a:rPr>
              <a:t>Protect → Validate → Build</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7EF"/>
        </a:solidFill>
      </p:bgPr>
    </p:bg>
    <p:spTree>
      <p:nvGrpSpPr>
        <p:cNvPr id="1" name=""/>
        <p:cNvGrpSpPr/>
        <p:nvPr/>
      </p:nvGrpSpPr>
      <p:grpSpPr>
        <a:xfrm>
          <a:off x="0" y="0"/>
          <a:ext cx="0" cy="0"/>
          <a:chOff x="0" y="0"/>
          <a:chExt cx="0" cy="0"/>
        </a:xfrm>
      </p:grpSpPr>
      <p:sp>
        <p:nvSpPr>
          <p:cNvPr id="2" name="Text 0"/>
          <p:cNvSpPr/>
          <p:nvPr/>
        </p:nvSpPr>
        <p:spPr>
          <a:xfrm>
            <a:off x="594360" y="310896"/>
            <a:ext cx="8046720" cy="320040"/>
          </a:xfrm>
          <a:prstGeom prst="rect">
            <a:avLst/>
          </a:prstGeom>
          <a:noFill/>
          <a:ln/>
        </p:spPr>
        <p:txBody>
          <a:bodyPr wrap="square" lIns="0" tIns="0" rIns="0" bIns="0" rtlCol="0" anchor="ctr"/>
          <a:lstStyle/>
          <a:p>
            <a:pPr indent="0" marL="0">
              <a:buNone/>
            </a:pPr>
            <a:r>
              <a:rPr lang="en-US" sz="2000" b="1" dirty="0">
                <a:solidFill>
                  <a:srgbClr val="2F7D73"/>
                </a:solidFill>
                <a:latin typeface="Aptos Display" pitchFamily="34" charset="0"/>
                <a:ea typeface="Aptos Display" pitchFamily="34" charset="-122"/>
                <a:cs typeface="Aptos Display" pitchFamily="34" charset="-120"/>
              </a:rPr>
              <a:t>Translation as Pressure Test</a:t>
            </a:r>
            <a:endParaRPr lang="en-US" sz="2000" dirty="0"/>
          </a:p>
        </p:txBody>
      </p:sp>
      <p:sp>
        <p:nvSpPr>
          <p:cNvPr id="3" name="Text 1"/>
          <p:cNvSpPr/>
          <p:nvPr/>
        </p:nvSpPr>
        <p:spPr>
          <a:xfrm>
            <a:off x="11109960" y="329184"/>
            <a:ext cx="457200" cy="256032"/>
          </a:xfrm>
          <a:prstGeom prst="rect">
            <a:avLst/>
          </a:prstGeom>
          <a:noFill/>
          <a:ln/>
        </p:spPr>
        <p:txBody>
          <a:bodyPr wrap="square" lIns="0" tIns="0" rIns="0" bIns="0" rtlCol="0" anchor="ctr"/>
          <a:lstStyle/>
          <a:p>
            <a:pPr algn="r" indent="0" marL="0">
              <a:buNone/>
            </a:pPr>
            <a:r>
              <a:rPr lang="en-US" sz="900" dirty="0">
                <a:solidFill>
                  <a:srgbClr val="667085"/>
                </a:solidFill>
              </a:rPr>
              <a:t>13</a:t>
            </a:r>
            <a:endParaRPr lang="en-US" sz="900" dirty="0"/>
          </a:p>
        </p:txBody>
      </p:sp>
      <p:sp>
        <p:nvSpPr>
          <p:cNvPr id="4" name="Shape 2"/>
          <p:cNvSpPr/>
          <p:nvPr/>
        </p:nvSpPr>
        <p:spPr>
          <a:xfrm>
            <a:off x="594360" y="749808"/>
            <a:ext cx="11018520" cy="0"/>
          </a:xfrm>
          <a:prstGeom prst="line">
            <a:avLst/>
          </a:prstGeom>
          <a:noFill/>
          <a:ln w="7620">
            <a:solidFill>
              <a:srgbClr val="CDD5DF"/>
            </a:solidFill>
            <a:prstDash val="solid"/>
          </a:ln>
        </p:spPr>
      </p:sp>
      <p:sp>
        <p:nvSpPr>
          <p:cNvPr id="5" name="Text 3"/>
          <p:cNvSpPr/>
          <p:nvPr/>
        </p:nvSpPr>
        <p:spPr>
          <a:xfrm>
            <a:off x="621792" y="1033272"/>
            <a:ext cx="6537960" cy="987552"/>
          </a:xfrm>
          <a:prstGeom prst="rect">
            <a:avLst/>
          </a:prstGeom>
          <a:noFill/>
          <a:ln/>
        </p:spPr>
        <p:txBody>
          <a:bodyPr wrap="square" lIns="254" tIns="254" rIns="254" bIns="254" rtlCol="0" anchor="ctr">
            <a:normAutofit/>
          </a:bodyPr>
          <a:lstStyle/>
          <a:p>
            <a:pPr indent="0" marL="0">
              <a:buNone/>
            </a:pPr>
            <a:r>
              <a:rPr lang="en-US" sz="2800" b="1" dirty="0">
                <a:solidFill>
                  <a:srgbClr val="1F2933"/>
                </a:solidFill>
                <a:latin typeface="Aptos Display" pitchFamily="34" charset="0"/>
                <a:ea typeface="Aptos Display" pitchFamily="34" charset="-122"/>
                <a:cs typeface="Aptos Display" pitchFamily="34" charset="-120"/>
              </a:rPr>
              <a:t>A successful translation should preserve the address, even when every word changes.</a:t>
            </a:r>
            <a:endParaRPr lang="en-US" sz="2800" dirty="0"/>
          </a:p>
        </p:txBody>
      </p:sp>
      <p:sp>
        <p:nvSpPr>
          <p:cNvPr id="6" name="Text 4"/>
          <p:cNvSpPr/>
          <p:nvPr/>
        </p:nvSpPr>
        <p:spPr>
          <a:xfrm>
            <a:off x="777240" y="2240280"/>
            <a:ext cx="6172200" cy="2560320"/>
          </a:xfrm>
          <a:prstGeom prst="rect">
            <a:avLst/>
          </a:prstGeom>
          <a:noFill/>
          <a:ln/>
        </p:spPr>
        <p:txBody>
          <a:bodyPr wrap="square" lIns="254" tIns="254" rIns="254" bIns="254" rtlCol="0" anchor="ctr">
            <a:normAutofit/>
          </a:bodyPr>
          <a:lstStyle/>
          <a:p>
            <a:r>
              <a:rPr lang="en-US" sz="1540" dirty="0">
                <a:solidFill>
                  <a:srgbClr val="1F2933"/>
                </a:solidFill>
              </a:rPr>
              <a:t>Words may change completely across languages.</a:t>
            </a:r>
            <a:endParaRPr lang="en-US" sz="1540" dirty="0"/>
          </a:p>
          <a:p>
            <a:r>
              <a:rPr lang="en-US" sz="1540" dirty="0">
                <a:solidFill>
                  <a:srgbClr val="1F2933"/>
                </a:solidFill>
              </a:rPr>
              <a:t>Structure should remain if the translation is faithful.</a:t>
            </a:r>
            <a:endParaRPr lang="en-US" sz="1540" dirty="0"/>
          </a:p>
          <a:p>
            <a:r>
              <a:rPr lang="en-US" sz="1540" dirty="0">
                <a:solidFill>
                  <a:srgbClr val="1F2933"/>
                </a:solidFill>
              </a:rPr>
              <a:t>Address matching gives a new translation check.</a:t>
            </a:r>
            <a:endParaRPr lang="en-US" sz="1540" dirty="0"/>
          </a:p>
          <a:p>
            <a:r>
              <a:rPr lang="en-US" sz="1540" dirty="0">
                <a:solidFill>
                  <a:srgbClr val="1F2933"/>
                </a:solidFill>
              </a:rPr>
              <a:t>This is a testable claim, not a finished proof.</a:t>
            </a:r>
            <a:endParaRPr lang="en-US" sz="1540" dirty="0"/>
          </a:p>
        </p:txBody>
      </p:sp>
      <p:sp>
        <p:nvSpPr>
          <p:cNvPr id="7" name="Shape 5"/>
          <p:cNvSpPr/>
          <p:nvPr/>
        </p:nvSpPr>
        <p:spPr>
          <a:xfrm>
            <a:off x="7680960" y="2423160"/>
            <a:ext cx="1097280" cy="475488"/>
          </a:xfrm>
          <a:prstGeom prst="roundRect">
            <a:avLst>
              <a:gd name="adj" fmla="val 23077"/>
            </a:avLst>
          </a:prstGeom>
          <a:solidFill>
            <a:srgbClr val="E7F1EE"/>
          </a:solidFill>
          <a:ln w="8890">
            <a:solidFill>
              <a:srgbClr val="2F7D73"/>
            </a:solidFill>
            <a:prstDash val="solid"/>
          </a:ln>
        </p:spPr>
      </p:sp>
      <p:sp>
        <p:nvSpPr>
          <p:cNvPr id="8" name="Text 6"/>
          <p:cNvSpPr/>
          <p:nvPr/>
        </p:nvSpPr>
        <p:spPr>
          <a:xfrm>
            <a:off x="7717536" y="2478024"/>
            <a:ext cx="1024128" cy="365760"/>
          </a:xfrm>
          <a:prstGeom prst="rect">
            <a:avLst/>
          </a:prstGeom>
          <a:noFill/>
          <a:ln/>
        </p:spPr>
        <p:txBody>
          <a:bodyPr wrap="square" lIns="762" tIns="762" rIns="762" bIns="762" rtlCol="0" anchor="ctr">
            <a:normAutofit/>
          </a:bodyPr>
          <a:lstStyle/>
          <a:p>
            <a:pPr algn="ctr" indent="0" marL="0">
              <a:buNone/>
            </a:pPr>
            <a:r>
              <a:rPr lang="en-US" sz="1300" b="1" dirty="0">
                <a:solidFill>
                  <a:srgbClr val="1F2933"/>
                </a:solidFill>
                <a:latin typeface="Aptos" pitchFamily="34" charset="0"/>
                <a:ea typeface="Aptos" pitchFamily="34" charset="-122"/>
                <a:cs typeface="Aptos" pitchFamily="34" charset="-120"/>
              </a:rPr>
              <a:t>English</a:t>
            </a:r>
            <a:endParaRPr lang="en-US" sz="1300" dirty="0"/>
          </a:p>
        </p:txBody>
      </p:sp>
      <p:sp>
        <p:nvSpPr>
          <p:cNvPr id="9" name="Shape 7"/>
          <p:cNvSpPr/>
          <p:nvPr/>
        </p:nvSpPr>
        <p:spPr>
          <a:xfrm>
            <a:off x="8869680" y="2670048"/>
            <a:ext cx="777240" cy="0"/>
          </a:xfrm>
          <a:prstGeom prst="line">
            <a:avLst/>
          </a:prstGeom>
          <a:noFill/>
          <a:ln w="19050">
            <a:solidFill>
              <a:srgbClr val="2F7D73"/>
            </a:solidFill>
            <a:prstDash val="solid"/>
            <a:headEnd type="none"/>
            <a:tailEnd type="triangle"/>
          </a:ln>
        </p:spPr>
      </p:sp>
      <p:sp>
        <p:nvSpPr>
          <p:cNvPr id="10" name="Shape 8"/>
          <p:cNvSpPr/>
          <p:nvPr/>
        </p:nvSpPr>
        <p:spPr>
          <a:xfrm>
            <a:off x="9738360" y="2423160"/>
            <a:ext cx="1097280" cy="475488"/>
          </a:xfrm>
          <a:prstGeom prst="roundRect">
            <a:avLst>
              <a:gd name="adj" fmla="val 23077"/>
            </a:avLst>
          </a:prstGeom>
          <a:solidFill>
            <a:srgbClr val="E7F1EE"/>
          </a:solidFill>
          <a:ln w="8890">
            <a:solidFill>
              <a:srgbClr val="2F7D73"/>
            </a:solidFill>
            <a:prstDash val="solid"/>
          </a:ln>
        </p:spPr>
      </p:sp>
      <p:sp>
        <p:nvSpPr>
          <p:cNvPr id="11" name="Text 9"/>
          <p:cNvSpPr/>
          <p:nvPr/>
        </p:nvSpPr>
        <p:spPr>
          <a:xfrm>
            <a:off x="9774936" y="2478024"/>
            <a:ext cx="1024128" cy="365760"/>
          </a:xfrm>
          <a:prstGeom prst="rect">
            <a:avLst/>
          </a:prstGeom>
          <a:noFill/>
          <a:ln/>
        </p:spPr>
        <p:txBody>
          <a:bodyPr wrap="square" lIns="762" tIns="762" rIns="762" bIns="762" rtlCol="0" anchor="ctr">
            <a:normAutofit/>
          </a:bodyPr>
          <a:lstStyle/>
          <a:p>
            <a:pPr algn="ctr" indent="0" marL="0">
              <a:buNone/>
            </a:pPr>
            <a:r>
              <a:rPr lang="en-US" sz="1300" b="1" dirty="0">
                <a:solidFill>
                  <a:srgbClr val="1F2933"/>
                </a:solidFill>
                <a:latin typeface="Aptos" pitchFamily="34" charset="0"/>
                <a:ea typeface="Aptos" pitchFamily="34" charset="-122"/>
                <a:cs typeface="Aptos" pitchFamily="34" charset="-120"/>
              </a:rPr>
              <a:t>Irish</a:t>
            </a:r>
            <a:endParaRPr lang="en-US" sz="1300" dirty="0"/>
          </a:p>
        </p:txBody>
      </p:sp>
      <p:sp>
        <p:nvSpPr>
          <p:cNvPr id="12" name="Text 10"/>
          <p:cNvSpPr/>
          <p:nvPr/>
        </p:nvSpPr>
        <p:spPr>
          <a:xfrm>
            <a:off x="8321040" y="3429000"/>
            <a:ext cx="1920240" cy="320040"/>
          </a:xfrm>
          <a:prstGeom prst="rect">
            <a:avLst/>
          </a:prstGeom>
          <a:noFill/>
          <a:ln/>
        </p:spPr>
        <p:txBody>
          <a:bodyPr wrap="square" lIns="762" tIns="762" rIns="762" bIns="762" rtlCol="0" anchor="ctr">
            <a:normAutofit/>
          </a:bodyPr>
          <a:lstStyle/>
          <a:p>
            <a:pPr algn="ctr" indent="0" marL="0">
              <a:buNone/>
            </a:pPr>
            <a:r>
              <a:rPr lang="en-US" sz="1800" b="1" dirty="0">
                <a:solidFill>
                  <a:srgbClr val="2F7D73"/>
                </a:solidFill>
                <a:latin typeface="Aptos" pitchFamily="34" charset="0"/>
                <a:ea typeface="Aptos" pitchFamily="34" charset="-122"/>
                <a:cs typeface="Aptos" pitchFamily="34" charset="-120"/>
              </a:rPr>
              <a:t>same address?</a:t>
            </a:r>
            <a:endParaRPr lang="en-US" sz="1800" dirty="0"/>
          </a:p>
        </p:txBody>
      </p:sp>
      <p:sp>
        <p:nvSpPr>
          <p:cNvPr id="13" name="Text 11"/>
          <p:cNvSpPr/>
          <p:nvPr/>
        </p:nvSpPr>
        <p:spPr>
          <a:xfrm>
            <a:off x="594360" y="6473952"/>
            <a:ext cx="1920240" cy="201168"/>
          </a:xfrm>
          <a:prstGeom prst="rect">
            <a:avLst/>
          </a:prstGeom>
          <a:noFill/>
          <a:ln/>
        </p:spPr>
        <p:txBody>
          <a:bodyPr wrap="square" lIns="0" tIns="0" rIns="0" bIns="0" rtlCol="0" anchor="ctr"/>
          <a:lstStyle/>
          <a:p>
            <a:pPr indent="0" marL="0">
              <a:buNone/>
            </a:pPr>
            <a:r>
              <a:rPr lang="en-US" sz="850" dirty="0">
                <a:solidFill>
                  <a:srgbClr val="667085"/>
                </a:solidFill>
              </a:rPr>
              <a:t>Settlement Gate</a:t>
            </a:r>
            <a:endParaRPr lang="en-US" sz="850" dirty="0"/>
          </a:p>
        </p:txBody>
      </p:sp>
      <p:sp>
        <p:nvSpPr>
          <p:cNvPr id="14" name="Text 12"/>
          <p:cNvSpPr/>
          <p:nvPr/>
        </p:nvSpPr>
        <p:spPr>
          <a:xfrm>
            <a:off x="9281160" y="6473952"/>
            <a:ext cx="2331720" cy="201168"/>
          </a:xfrm>
          <a:prstGeom prst="rect">
            <a:avLst/>
          </a:prstGeom>
          <a:noFill/>
          <a:ln/>
        </p:spPr>
        <p:txBody>
          <a:bodyPr wrap="square" lIns="0" tIns="0" rIns="0" bIns="0" rtlCol="0" anchor="ctr"/>
          <a:lstStyle/>
          <a:p>
            <a:pPr algn="r" indent="0" marL="0">
              <a:buNone/>
            </a:pPr>
            <a:r>
              <a:rPr lang="en-US" sz="850" dirty="0">
                <a:solidFill>
                  <a:srgbClr val="667085"/>
                </a:solidFill>
              </a:rPr>
              <a:t>Protect → Validate → Build</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7EF"/>
        </a:solidFill>
      </p:bgPr>
    </p:bg>
    <p:spTree>
      <p:nvGrpSpPr>
        <p:cNvPr id="1" name=""/>
        <p:cNvGrpSpPr/>
        <p:nvPr/>
      </p:nvGrpSpPr>
      <p:grpSpPr>
        <a:xfrm>
          <a:off x="0" y="0"/>
          <a:ext cx="0" cy="0"/>
          <a:chOff x="0" y="0"/>
          <a:chExt cx="0" cy="0"/>
        </a:xfrm>
      </p:grpSpPr>
      <p:sp>
        <p:nvSpPr>
          <p:cNvPr id="2" name="Text 0"/>
          <p:cNvSpPr/>
          <p:nvPr/>
        </p:nvSpPr>
        <p:spPr>
          <a:xfrm>
            <a:off x="594360" y="310896"/>
            <a:ext cx="8046720" cy="320040"/>
          </a:xfrm>
          <a:prstGeom prst="rect">
            <a:avLst/>
          </a:prstGeom>
          <a:noFill/>
          <a:ln/>
        </p:spPr>
        <p:txBody>
          <a:bodyPr wrap="square" lIns="0" tIns="0" rIns="0" bIns="0" rtlCol="0" anchor="ctr"/>
          <a:lstStyle/>
          <a:p>
            <a:pPr indent="0" marL="0">
              <a:buNone/>
            </a:pPr>
            <a:r>
              <a:rPr lang="en-US" sz="2000" b="1" dirty="0">
                <a:solidFill>
                  <a:srgbClr val="2F7D73"/>
                </a:solidFill>
                <a:latin typeface="Aptos Display" pitchFamily="34" charset="0"/>
                <a:ea typeface="Aptos Display" pitchFamily="34" charset="-122"/>
                <a:cs typeface="Aptos Display" pitchFamily="34" charset="-120"/>
              </a:rPr>
              <a:t>Galway / Irish Demo</a:t>
            </a:r>
            <a:endParaRPr lang="en-US" sz="2000" dirty="0"/>
          </a:p>
        </p:txBody>
      </p:sp>
      <p:sp>
        <p:nvSpPr>
          <p:cNvPr id="3" name="Text 1"/>
          <p:cNvSpPr/>
          <p:nvPr/>
        </p:nvSpPr>
        <p:spPr>
          <a:xfrm>
            <a:off x="11109960" y="329184"/>
            <a:ext cx="457200" cy="256032"/>
          </a:xfrm>
          <a:prstGeom prst="rect">
            <a:avLst/>
          </a:prstGeom>
          <a:noFill/>
          <a:ln/>
        </p:spPr>
        <p:txBody>
          <a:bodyPr wrap="square" lIns="0" tIns="0" rIns="0" bIns="0" rtlCol="0" anchor="ctr"/>
          <a:lstStyle/>
          <a:p>
            <a:pPr algn="r" indent="0" marL="0">
              <a:buNone/>
            </a:pPr>
            <a:r>
              <a:rPr lang="en-US" sz="900" dirty="0">
                <a:solidFill>
                  <a:srgbClr val="667085"/>
                </a:solidFill>
              </a:rPr>
              <a:t>14</a:t>
            </a:r>
            <a:endParaRPr lang="en-US" sz="900" dirty="0"/>
          </a:p>
        </p:txBody>
      </p:sp>
      <p:sp>
        <p:nvSpPr>
          <p:cNvPr id="4" name="Shape 2"/>
          <p:cNvSpPr/>
          <p:nvPr/>
        </p:nvSpPr>
        <p:spPr>
          <a:xfrm>
            <a:off x="594360" y="749808"/>
            <a:ext cx="11018520" cy="0"/>
          </a:xfrm>
          <a:prstGeom prst="line">
            <a:avLst/>
          </a:prstGeom>
          <a:noFill/>
          <a:ln w="7620">
            <a:solidFill>
              <a:srgbClr val="CDD5DF"/>
            </a:solidFill>
            <a:prstDash val="solid"/>
          </a:ln>
        </p:spPr>
      </p:sp>
      <p:sp>
        <p:nvSpPr>
          <p:cNvPr id="5" name="Text 3"/>
          <p:cNvSpPr/>
          <p:nvPr/>
        </p:nvSpPr>
        <p:spPr>
          <a:xfrm>
            <a:off x="621792" y="1033272"/>
            <a:ext cx="6537960" cy="987552"/>
          </a:xfrm>
          <a:prstGeom prst="rect">
            <a:avLst/>
          </a:prstGeom>
          <a:noFill/>
          <a:ln/>
        </p:spPr>
        <p:txBody>
          <a:bodyPr wrap="square" lIns="254" tIns="254" rIns="254" bIns="254" rtlCol="0" anchor="ctr">
            <a:normAutofit/>
          </a:bodyPr>
          <a:lstStyle/>
          <a:p>
            <a:pPr indent="0" marL="0">
              <a:buNone/>
            </a:pPr>
            <a:r>
              <a:rPr lang="en-US" sz="2800" b="1" dirty="0">
                <a:solidFill>
                  <a:srgbClr val="1F2933"/>
                </a:solidFill>
                <a:latin typeface="Aptos Display" pitchFamily="34" charset="0"/>
                <a:ea typeface="Aptos Display" pitchFamily="34" charset="-122"/>
                <a:cs typeface="Aptos Display" pitchFamily="34" charset="-120"/>
              </a:rPr>
              <a:t>In the Galway packet, English and Irish sentence pairs resolve to the same structural landings.</a:t>
            </a:r>
            <a:endParaRPr lang="en-US" sz="2800" dirty="0"/>
          </a:p>
        </p:txBody>
      </p:sp>
      <p:sp>
        <p:nvSpPr>
          <p:cNvPr id="6" name="Text 4"/>
          <p:cNvSpPr/>
          <p:nvPr/>
        </p:nvSpPr>
        <p:spPr>
          <a:xfrm>
            <a:off x="777240" y="2240280"/>
            <a:ext cx="6172200" cy="2560320"/>
          </a:xfrm>
          <a:prstGeom prst="rect">
            <a:avLst/>
          </a:prstGeom>
          <a:noFill/>
          <a:ln/>
        </p:spPr>
        <p:txBody>
          <a:bodyPr wrap="square" lIns="254" tIns="254" rIns="254" bIns="254" rtlCol="0" anchor="ctr">
            <a:normAutofit/>
          </a:bodyPr>
          <a:lstStyle/>
          <a:p>
            <a:r>
              <a:rPr lang="en-US" sz="1540" dirty="0">
                <a:solidFill>
                  <a:srgbClr val="1F2933"/>
                </a:solidFill>
              </a:rPr>
              <a:t>Transport plan: same landing.</a:t>
            </a:r>
            <a:endParaRPr lang="en-US" sz="1540" dirty="0"/>
          </a:p>
          <a:p>
            <a:r>
              <a:rPr lang="en-US" sz="1540" dirty="0">
                <a:solidFill>
                  <a:srgbClr val="1F2933"/>
                </a:solidFill>
              </a:rPr>
              <a:t>PorterShed hosting: same landing.</a:t>
            </a:r>
            <a:endParaRPr lang="en-US" sz="1540" dirty="0"/>
          </a:p>
          <a:p>
            <a:r>
              <a:rPr lang="en-US" sz="1540" dirty="0">
                <a:solidFill>
                  <a:srgbClr val="1F2933"/>
                </a:solidFill>
              </a:rPr>
              <a:t>Startup accelerator: same landing.</a:t>
            </a:r>
            <a:endParaRPr lang="en-US" sz="1540" dirty="0"/>
          </a:p>
          <a:p>
            <a:r>
              <a:rPr lang="en-US" sz="1540" dirty="0">
                <a:solidFill>
                  <a:srgbClr val="1F2933"/>
                </a:solidFill>
              </a:rPr>
              <a:t>Flooding cause/result: same landing.</a:t>
            </a:r>
            <a:endParaRPr lang="en-US" sz="1540" dirty="0"/>
          </a:p>
          <a:p>
            <a:r>
              <a:rPr lang="en-US" sz="1540" dirty="0">
                <a:solidFill>
                  <a:srgbClr val="1F2933"/>
                </a:solidFill>
              </a:rPr>
              <a:t>AI study publication: same landing.</a:t>
            </a:r>
            <a:endParaRPr lang="en-US" sz="1540" dirty="0"/>
          </a:p>
        </p:txBody>
      </p:sp>
      <p:sp>
        <p:nvSpPr>
          <p:cNvPr id="7" name="Shape 5"/>
          <p:cNvSpPr/>
          <p:nvPr/>
        </p:nvSpPr>
        <p:spPr>
          <a:xfrm>
            <a:off x="7863840" y="1874520"/>
            <a:ext cx="914400" cy="310896"/>
          </a:xfrm>
          <a:prstGeom prst="roundRect">
            <a:avLst>
              <a:gd name="adj" fmla="val 35294"/>
            </a:avLst>
          </a:prstGeom>
          <a:solidFill>
            <a:srgbClr val="E7F1EE"/>
          </a:solidFill>
          <a:ln w="8890">
            <a:solidFill>
              <a:srgbClr val="2F7D73"/>
            </a:solidFill>
            <a:prstDash val="solid"/>
          </a:ln>
        </p:spPr>
      </p:sp>
      <p:sp>
        <p:nvSpPr>
          <p:cNvPr id="8" name="Text 6"/>
          <p:cNvSpPr/>
          <p:nvPr/>
        </p:nvSpPr>
        <p:spPr>
          <a:xfrm>
            <a:off x="7900416" y="1929384"/>
            <a:ext cx="841248" cy="201168"/>
          </a:xfrm>
          <a:prstGeom prst="rect">
            <a:avLst/>
          </a:prstGeom>
          <a:noFill/>
          <a:ln/>
        </p:spPr>
        <p:txBody>
          <a:bodyPr wrap="square" lIns="762" tIns="762" rIns="762" bIns="762" rtlCol="0" anchor="ctr">
            <a:normAutofit/>
          </a:bodyPr>
          <a:lstStyle/>
          <a:p>
            <a:pPr algn="ctr" indent="0" marL="0">
              <a:buNone/>
            </a:pPr>
            <a:r>
              <a:rPr lang="en-US" sz="1050" b="1" dirty="0">
                <a:solidFill>
                  <a:srgbClr val="1F2933"/>
                </a:solidFill>
                <a:latin typeface="Aptos" pitchFamily="34" charset="0"/>
                <a:ea typeface="Aptos" pitchFamily="34" charset="-122"/>
                <a:cs typeface="Aptos" pitchFamily="34" charset="-120"/>
              </a:rPr>
              <a:t>1 ↔ 16</a:t>
            </a:r>
            <a:endParaRPr lang="en-US" sz="1050" dirty="0"/>
          </a:p>
        </p:txBody>
      </p:sp>
      <p:sp>
        <p:nvSpPr>
          <p:cNvPr id="9" name="Text 7"/>
          <p:cNvSpPr/>
          <p:nvPr/>
        </p:nvSpPr>
        <p:spPr>
          <a:xfrm>
            <a:off x="9052560" y="1911096"/>
            <a:ext cx="1554480" cy="219456"/>
          </a:xfrm>
          <a:prstGeom prst="rect">
            <a:avLst/>
          </a:prstGeom>
          <a:noFill/>
          <a:ln/>
        </p:spPr>
        <p:txBody>
          <a:bodyPr wrap="square" lIns="762" tIns="762" rIns="762" bIns="762" rtlCol="0" anchor="ctr">
            <a:normAutofit/>
          </a:bodyPr>
          <a:lstStyle/>
          <a:p>
            <a:pPr algn="ctr" indent="0" marL="0">
              <a:buNone/>
            </a:pPr>
            <a:r>
              <a:rPr lang="en-US" sz="1100" dirty="0">
                <a:solidFill>
                  <a:srgbClr val="1F2933"/>
                </a:solidFill>
                <a:latin typeface="Aptos" pitchFamily="34" charset="0"/>
                <a:ea typeface="Aptos" pitchFamily="34" charset="-122"/>
                <a:cs typeface="Aptos" pitchFamily="34" charset="-120"/>
              </a:rPr>
              <a:t>same landing</a:t>
            </a:r>
            <a:endParaRPr lang="en-US" sz="1100" dirty="0"/>
          </a:p>
        </p:txBody>
      </p:sp>
      <p:sp>
        <p:nvSpPr>
          <p:cNvPr id="10" name="Shape 8"/>
          <p:cNvSpPr/>
          <p:nvPr/>
        </p:nvSpPr>
        <p:spPr>
          <a:xfrm>
            <a:off x="7863840" y="2404872"/>
            <a:ext cx="914400" cy="310896"/>
          </a:xfrm>
          <a:prstGeom prst="roundRect">
            <a:avLst>
              <a:gd name="adj" fmla="val 35294"/>
            </a:avLst>
          </a:prstGeom>
          <a:solidFill>
            <a:srgbClr val="E7F1EE"/>
          </a:solidFill>
          <a:ln w="8890">
            <a:solidFill>
              <a:srgbClr val="2F7D73"/>
            </a:solidFill>
            <a:prstDash val="solid"/>
          </a:ln>
        </p:spPr>
      </p:sp>
      <p:sp>
        <p:nvSpPr>
          <p:cNvPr id="11" name="Text 9"/>
          <p:cNvSpPr/>
          <p:nvPr/>
        </p:nvSpPr>
        <p:spPr>
          <a:xfrm>
            <a:off x="7900416" y="2459736"/>
            <a:ext cx="841248" cy="201168"/>
          </a:xfrm>
          <a:prstGeom prst="rect">
            <a:avLst/>
          </a:prstGeom>
          <a:noFill/>
          <a:ln/>
        </p:spPr>
        <p:txBody>
          <a:bodyPr wrap="square" lIns="762" tIns="762" rIns="762" bIns="762" rtlCol="0" anchor="ctr">
            <a:normAutofit/>
          </a:bodyPr>
          <a:lstStyle/>
          <a:p>
            <a:pPr algn="ctr" indent="0" marL="0">
              <a:buNone/>
            </a:pPr>
            <a:r>
              <a:rPr lang="en-US" sz="1050" b="1" dirty="0">
                <a:solidFill>
                  <a:srgbClr val="1F2933"/>
                </a:solidFill>
                <a:latin typeface="Aptos" pitchFamily="34" charset="0"/>
                <a:ea typeface="Aptos" pitchFamily="34" charset="-122"/>
                <a:cs typeface="Aptos" pitchFamily="34" charset="-120"/>
              </a:rPr>
              <a:t>3 ↔ 17</a:t>
            </a:r>
            <a:endParaRPr lang="en-US" sz="1050" dirty="0"/>
          </a:p>
        </p:txBody>
      </p:sp>
      <p:sp>
        <p:nvSpPr>
          <p:cNvPr id="12" name="Text 10"/>
          <p:cNvSpPr/>
          <p:nvPr/>
        </p:nvSpPr>
        <p:spPr>
          <a:xfrm>
            <a:off x="9052560" y="2441448"/>
            <a:ext cx="1554480" cy="219456"/>
          </a:xfrm>
          <a:prstGeom prst="rect">
            <a:avLst/>
          </a:prstGeom>
          <a:noFill/>
          <a:ln/>
        </p:spPr>
        <p:txBody>
          <a:bodyPr wrap="square" lIns="762" tIns="762" rIns="762" bIns="762" rtlCol="0" anchor="ctr">
            <a:normAutofit/>
          </a:bodyPr>
          <a:lstStyle/>
          <a:p>
            <a:pPr algn="ctr" indent="0" marL="0">
              <a:buNone/>
            </a:pPr>
            <a:r>
              <a:rPr lang="en-US" sz="1100" dirty="0">
                <a:solidFill>
                  <a:srgbClr val="1F2933"/>
                </a:solidFill>
                <a:latin typeface="Aptos" pitchFamily="34" charset="0"/>
                <a:ea typeface="Aptos" pitchFamily="34" charset="-122"/>
                <a:cs typeface="Aptos" pitchFamily="34" charset="-120"/>
              </a:rPr>
              <a:t>same landing</a:t>
            </a:r>
            <a:endParaRPr lang="en-US" sz="1100" dirty="0"/>
          </a:p>
        </p:txBody>
      </p:sp>
      <p:sp>
        <p:nvSpPr>
          <p:cNvPr id="13" name="Shape 11"/>
          <p:cNvSpPr/>
          <p:nvPr/>
        </p:nvSpPr>
        <p:spPr>
          <a:xfrm>
            <a:off x="7863840" y="2935224"/>
            <a:ext cx="914400" cy="310896"/>
          </a:xfrm>
          <a:prstGeom prst="roundRect">
            <a:avLst>
              <a:gd name="adj" fmla="val 35294"/>
            </a:avLst>
          </a:prstGeom>
          <a:solidFill>
            <a:srgbClr val="E7F1EE"/>
          </a:solidFill>
          <a:ln w="8890">
            <a:solidFill>
              <a:srgbClr val="2F7D73"/>
            </a:solidFill>
            <a:prstDash val="solid"/>
          </a:ln>
        </p:spPr>
      </p:sp>
      <p:sp>
        <p:nvSpPr>
          <p:cNvPr id="14" name="Text 12"/>
          <p:cNvSpPr/>
          <p:nvPr/>
        </p:nvSpPr>
        <p:spPr>
          <a:xfrm>
            <a:off x="7900416" y="2990088"/>
            <a:ext cx="841248" cy="201168"/>
          </a:xfrm>
          <a:prstGeom prst="rect">
            <a:avLst/>
          </a:prstGeom>
          <a:noFill/>
          <a:ln/>
        </p:spPr>
        <p:txBody>
          <a:bodyPr wrap="square" lIns="762" tIns="762" rIns="762" bIns="762" rtlCol="0" anchor="ctr">
            <a:normAutofit/>
          </a:bodyPr>
          <a:lstStyle/>
          <a:p>
            <a:pPr algn="ctr" indent="0" marL="0">
              <a:buNone/>
            </a:pPr>
            <a:r>
              <a:rPr lang="en-US" sz="1050" b="1" dirty="0">
                <a:solidFill>
                  <a:srgbClr val="1F2933"/>
                </a:solidFill>
                <a:latin typeface="Aptos" pitchFamily="34" charset="0"/>
                <a:ea typeface="Aptos" pitchFamily="34" charset="-122"/>
                <a:cs typeface="Aptos" pitchFamily="34" charset="-120"/>
              </a:rPr>
              <a:t>5 ↔ 18</a:t>
            </a:r>
            <a:endParaRPr lang="en-US" sz="1050" dirty="0"/>
          </a:p>
        </p:txBody>
      </p:sp>
      <p:sp>
        <p:nvSpPr>
          <p:cNvPr id="15" name="Text 13"/>
          <p:cNvSpPr/>
          <p:nvPr/>
        </p:nvSpPr>
        <p:spPr>
          <a:xfrm>
            <a:off x="9052560" y="2971800"/>
            <a:ext cx="1554480" cy="219456"/>
          </a:xfrm>
          <a:prstGeom prst="rect">
            <a:avLst/>
          </a:prstGeom>
          <a:noFill/>
          <a:ln/>
        </p:spPr>
        <p:txBody>
          <a:bodyPr wrap="square" lIns="762" tIns="762" rIns="762" bIns="762" rtlCol="0" anchor="ctr">
            <a:normAutofit/>
          </a:bodyPr>
          <a:lstStyle/>
          <a:p>
            <a:pPr algn="ctr" indent="0" marL="0">
              <a:buNone/>
            </a:pPr>
            <a:r>
              <a:rPr lang="en-US" sz="1100" dirty="0">
                <a:solidFill>
                  <a:srgbClr val="1F2933"/>
                </a:solidFill>
                <a:latin typeface="Aptos" pitchFamily="34" charset="0"/>
                <a:ea typeface="Aptos" pitchFamily="34" charset="-122"/>
                <a:cs typeface="Aptos" pitchFamily="34" charset="-120"/>
              </a:rPr>
              <a:t>same landing</a:t>
            </a:r>
            <a:endParaRPr lang="en-US" sz="1100" dirty="0"/>
          </a:p>
        </p:txBody>
      </p:sp>
      <p:sp>
        <p:nvSpPr>
          <p:cNvPr id="16" name="Shape 14"/>
          <p:cNvSpPr/>
          <p:nvPr/>
        </p:nvSpPr>
        <p:spPr>
          <a:xfrm>
            <a:off x="7863840" y="3465576"/>
            <a:ext cx="914400" cy="310896"/>
          </a:xfrm>
          <a:prstGeom prst="roundRect">
            <a:avLst>
              <a:gd name="adj" fmla="val 35294"/>
            </a:avLst>
          </a:prstGeom>
          <a:solidFill>
            <a:srgbClr val="E7F1EE"/>
          </a:solidFill>
          <a:ln w="8890">
            <a:solidFill>
              <a:srgbClr val="2F7D73"/>
            </a:solidFill>
            <a:prstDash val="solid"/>
          </a:ln>
        </p:spPr>
      </p:sp>
      <p:sp>
        <p:nvSpPr>
          <p:cNvPr id="17" name="Text 15"/>
          <p:cNvSpPr/>
          <p:nvPr/>
        </p:nvSpPr>
        <p:spPr>
          <a:xfrm>
            <a:off x="7900416" y="3520440"/>
            <a:ext cx="841248" cy="201168"/>
          </a:xfrm>
          <a:prstGeom prst="rect">
            <a:avLst/>
          </a:prstGeom>
          <a:noFill/>
          <a:ln/>
        </p:spPr>
        <p:txBody>
          <a:bodyPr wrap="square" lIns="762" tIns="762" rIns="762" bIns="762" rtlCol="0" anchor="ctr">
            <a:normAutofit/>
          </a:bodyPr>
          <a:lstStyle/>
          <a:p>
            <a:pPr algn="ctr" indent="0" marL="0">
              <a:buNone/>
            </a:pPr>
            <a:r>
              <a:rPr lang="en-US" sz="1050" b="1" dirty="0">
                <a:solidFill>
                  <a:srgbClr val="1F2933"/>
                </a:solidFill>
                <a:latin typeface="Aptos" pitchFamily="34" charset="0"/>
                <a:ea typeface="Aptos" pitchFamily="34" charset="-122"/>
                <a:cs typeface="Aptos" pitchFamily="34" charset="-120"/>
              </a:rPr>
              <a:t>9 ↔ 19</a:t>
            </a:r>
            <a:endParaRPr lang="en-US" sz="1050" dirty="0"/>
          </a:p>
        </p:txBody>
      </p:sp>
      <p:sp>
        <p:nvSpPr>
          <p:cNvPr id="18" name="Text 16"/>
          <p:cNvSpPr/>
          <p:nvPr/>
        </p:nvSpPr>
        <p:spPr>
          <a:xfrm>
            <a:off x="9052560" y="3502152"/>
            <a:ext cx="1554480" cy="219456"/>
          </a:xfrm>
          <a:prstGeom prst="rect">
            <a:avLst/>
          </a:prstGeom>
          <a:noFill/>
          <a:ln/>
        </p:spPr>
        <p:txBody>
          <a:bodyPr wrap="square" lIns="762" tIns="762" rIns="762" bIns="762" rtlCol="0" anchor="ctr">
            <a:normAutofit/>
          </a:bodyPr>
          <a:lstStyle/>
          <a:p>
            <a:pPr algn="ctr" indent="0" marL="0">
              <a:buNone/>
            </a:pPr>
            <a:r>
              <a:rPr lang="en-US" sz="1100" dirty="0">
                <a:solidFill>
                  <a:srgbClr val="1F2933"/>
                </a:solidFill>
                <a:latin typeface="Aptos" pitchFamily="34" charset="0"/>
                <a:ea typeface="Aptos" pitchFamily="34" charset="-122"/>
                <a:cs typeface="Aptos" pitchFamily="34" charset="-120"/>
              </a:rPr>
              <a:t>same landing</a:t>
            </a:r>
            <a:endParaRPr lang="en-US" sz="1100" dirty="0"/>
          </a:p>
        </p:txBody>
      </p:sp>
      <p:sp>
        <p:nvSpPr>
          <p:cNvPr id="19" name="Shape 17"/>
          <p:cNvSpPr/>
          <p:nvPr/>
        </p:nvSpPr>
        <p:spPr>
          <a:xfrm>
            <a:off x="7863840" y="3995928"/>
            <a:ext cx="914400" cy="310896"/>
          </a:xfrm>
          <a:prstGeom prst="roundRect">
            <a:avLst>
              <a:gd name="adj" fmla="val 35294"/>
            </a:avLst>
          </a:prstGeom>
          <a:solidFill>
            <a:srgbClr val="E7F1EE"/>
          </a:solidFill>
          <a:ln w="8890">
            <a:solidFill>
              <a:srgbClr val="2F7D73"/>
            </a:solidFill>
            <a:prstDash val="solid"/>
          </a:ln>
        </p:spPr>
      </p:sp>
      <p:sp>
        <p:nvSpPr>
          <p:cNvPr id="20" name="Text 18"/>
          <p:cNvSpPr/>
          <p:nvPr/>
        </p:nvSpPr>
        <p:spPr>
          <a:xfrm>
            <a:off x="7900416" y="4050792"/>
            <a:ext cx="841248" cy="201168"/>
          </a:xfrm>
          <a:prstGeom prst="rect">
            <a:avLst/>
          </a:prstGeom>
          <a:noFill/>
          <a:ln/>
        </p:spPr>
        <p:txBody>
          <a:bodyPr wrap="square" lIns="762" tIns="762" rIns="762" bIns="762" rtlCol="0" anchor="ctr">
            <a:normAutofit/>
          </a:bodyPr>
          <a:lstStyle/>
          <a:p>
            <a:pPr algn="ctr" indent="0" marL="0">
              <a:buNone/>
            </a:pPr>
            <a:r>
              <a:rPr lang="en-US" sz="1050" b="1" dirty="0">
                <a:solidFill>
                  <a:srgbClr val="1F2933"/>
                </a:solidFill>
                <a:latin typeface="Aptos" pitchFamily="34" charset="0"/>
                <a:ea typeface="Aptos" pitchFamily="34" charset="-122"/>
                <a:cs typeface="Aptos" pitchFamily="34" charset="-120"/>
              </a:rPr>
              <a:t>11 ↔ 20</a:t>
            </a:r>
            <a:endParaRPr lang="en-US" sz="1050" dirty="0"/>
          </a:p>
        </p:txBody>
      </p:sp>
      <p:sp>
        <p:nvSpPr>
          <p:cNvPr id="21" name="Text 19"/>
          <p:cNvSpPr/>
          <p:nvPr/>
        </p:nvSpPr>
        <p:spPr>
          <a:xfrm>
            <a:off x="9052560" y="4032504"/>
            <a:ext cx="1554480" cy="219456"/>
          </a:xfrm>
          <a:prstGeom prst="rect">
            <a:avLst/>
          </a:prstGeom>
          <a:noFill/>
          <a:ln/>
        </p:spPr>
        <p:txBody>
          <a:bodyPr wrap="square" lIns="762" tIns="762" rIns="762" bIns="762" rtlCol="0" anchor="ctr">
            <a:normAutofit/>
          </a:bodyPr>
          <a:lstStyle/>
          <a:p>
            <a:pPr algn="ctr" indent="0" marL="0">
              <a:buNone/>
            </a:pPr>
            <a:r>
              <a:rPr lang="en-US" sz="1100" dirty="0">
                <a:solidFill>
                  <a:srgbClr val="1F2933"/>
                </a:solidFill>
                <a:latin typeface="Aptos" pitchFamily="34" charset="0"/>
                <a:ea typeface="Aptos" pitchFamily="34" charset="-122"/>
                <a:cs typeface="Aptos" pitchFamily="34" charset="-120"/>
              </a:rPr>
              <a:t>same landing</a:t>
            </a:r>
            <a:endParaRPr lang="en-US" sz="1100" dirty="0"/>
          </a:p>
        </p:txBody>
      </p:sp>
      <p:sp>
        <p:nvSpPr>
          <p:cNvPr id="22" name="Text 20"/>
          <p:cNvSpPr/>
          <p:nvPr/>
        </p:nvSpPr>
        <p:spPr>
          <a:xfrm>
            <a:off x="594360" y="6473952"/>
            <a:ext cx="1920240" cy="201168"/>
          </a:xfrm>
          <a:prstGeom prst="rect">
            <a:avLst/>
          </a:prstGeom>
          <a:noFill/>
          <a:ln/>
        </p:spPr>
        <p:txBody>
          <a:bodyPr wrap="square" lIns="0" tIns="0" rIns="0" bIns="0" rtlCol="0" anchor="ctr"/>
          <a:lstStyle/>
          <a:p>
            <a:pPr indent="0" marL="0">
              <a:buNone/>
            </a:pPr>
            <a:r>
              <a:rPr lang="en-US" sz="850" dirty="0">
                <a:solidFill>
                  <a:srgbClr val="667085"/>
                </a:solidFill>
              </a:rPr>
              <a:t>Settlement Gate</a:t>
            </a:r>
            <a:endParaRPr lang="en-US" sz="850" dirty="0"/>
          </a:p>
        </p:txBody>
      </p:sp>
      <p:sp>
        <p:nvSpPr>
          <p:cNvPr id="23" name="Text 21"/>
          <p:cNvSpPr/>
          <p:nvPr/>
        </p:nvSpPr>
        <p:spPr>
          <a:xfrm>
            <a:off x="9281160" y="6473952"/>
            <a:ext cx="2331720" cy="201168"/>
          </a:xfrm>
          <a:prstGeom prst="rect">
            <a:avLst/>
          </a:prstGeom>
          <a:noFill/>
          <a:ln/>
        </p:spPr>
        <p:txBody>
          <a:bodyPr wrap="square" lIns="0" tIns="0" rIns="0" bIns="0" rtlCol="0" anchor="ctr"/>
          <a:lstStyle/>
          <a:p>
            <a:pPr algn="r" indent="0" marL="0">
              <a:buNone/>
            </a:pPr>
            <a:r>
              <a:rPr lang="en-US" sz="850" dirty="0">
                <a:solidFill>
                  <a:srgbClr val="667085"/>
                </a:solidFill>
              </a:rPr>
              <a:t>Protect → Validate → Build</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7EF"/>
        </a:solidFill>
      </p:bgPr>
    </p:bg>
    <p:spTree>
      <p:nvGrpSpPr>
        <p:cNvPr id="1" name=""/>
        <p:cNvGrpSpPr/>
        <p:nvPr/>
      </p:nvGrpSpPr>
      <p:grpSpPr>
        <a:xfrm>
          <a:off x="0" y="0"/>
          <a:ext cx="0" cy="0"/>
          <a:chOff x="0" y="0"/>
          <a:chExt cx="0" cy="0"/>
        </a:xfrm>
      </p:grpSpPr>
      <p:sp>
        <p:nvSpPr>
          <p:cNvPr id="2" name="Text 0"/>
          <p:cNvSpPr/>
          <p:nvPr/>
        </p:nvSpPr>
        <p:spPr>
          <a:xfrm>
            <a:off x="594360" y="310896"/>
            <a:ext cx="8046720" cy="320040"/>
          </a:xfrm>
          <a:prstGeom prst="rect">
            <a:avLst/>
          </a:prstGeom>
          <a:noFill/>
          <a:ln/>
        </p:spPr>
        <p:txBody>
          <a:bodyPr wrap="square" lIns="0" tIns="0" rIns="0" bIns="0" rtlCol="0" anchor="ctr"/>
          <a:lstStyle/>
          <a:p>
            <a:pPr indent="0" marL="0">
              <a:buNone/>
            </a:pPr>
            <a:r>
              <a:rPr lang="en-US" sz="2000" b="1" dirty="0">
                <a:solidFill>
                  <a:srgbClr val="2F7D73"/>
                </a:solidFill>
                <a:latin typeface="Aptos Display" pitchFamily="34" charset="0"/>
                <a:ea typeface="Aptos Display" pitchFamily="34" charset="-122"/>
                <a:cs typeface="Aptos Display" pitchFamily="34" charset="-120"/>
              </a:rPr>
              <a:t>The Future Audit Label</a:t>
            </a:r>
            <a:endParaRPr lang="en-US" sz="2000" dirty="0"/>
          </a:p>
        </p:txBody>
      </p:sp>
      <p:sp>
        <p:nvSpPr>
          <p:cNvPr id="3" name="Text 1"/>
          <p:cNvSpPr/>
          <p:nvPr/>
        </p:nvSpPr>
        <p:spPr>
          <a:xfrm>
            <a:off x="11109960" y="329184"/>
            <a:ext cx="457200" cy="256032"/>
          </a:xfrm>
          <a:prstGeom prst="rect">
            <a:avLst/>
          </a:prstGeom>
          <a:noFill/>
          <a:ln/>
        </p:spPr>
        <p:txBody>
          <a:bodyPr wrap="square" lIns="0" tIns="0" rIns="0" bIns="0" rtlCol="0" anchor="ctr"/>
          <a:lstStyle/>
          <a:p>
            <a:pPr algn="r" indent="0" marL="0">
              <a:buNone/>
            </a:pPr>
            <a:r>
              <a:rPr lang="en-US" sz="900" dirty="0">
                <a:solidFill>
                  <a:srgbClr val="667085"/>
                </a:solidFill>
              </a:rPr>
              <a:t>15</a:t>
            </a:r>
            <a:endParaRPr lang="en-US" sz="900" dirty="0"/>
          </a:p>
        </p:txBody>
      </p:sp>
      <p:sp>
        <p:nvSpPr>
          <p:cNvPr id="4" name="Shape 2"/>
          <p:cNvSpPr/>
          <p:nvPr/>
        </p:nvSpPr>
        <p:spPr>
          <a:xfrm>
            <a:off x="594360" y="749808"/>
            <a:ext cx="11018520" cy="0"/>
          </a:xfrm>
          <a:prstGeom prst="line">
            <a:avLst/>
          </a:prstGeom>
          <a:noFill/>
          <a:ln w="7620">
            <a:solidFill>
              <a:srgbClr val="CDD5DF"/>
            </a:solidFill>
            <a:prstDash val="solid"/>
          </a:ln>
        </p:spPr>
      </p:sp>
      <p:sp>
        <p:nvSpPr>
          <p:cNvPr id="5" name="Text 3"/>
          <p:cNvSpPr/>
          <p:nvPr/>
        </p:nvSpPr>
        <p:spPr>
          <a:xfrm>
            <a:off x="621792" y="1033272"/>
            <a:ext cx="6537960" cy="987552"/>
          </a:xfrm>
          <a:prstGeom prst="rect">
            <a:avLst/>
          </a:prstGeom>
          <a:noFill/>
          <a:ln/>
        </p:spPr>
        <p:txBody>
          <a:bodyPr wrap="square" lIns="254" tIns="254" rIns="254" bIns="254" rtlCol="0" anchor="ctr">
            <a:normAutofit/>
          </a:bodyPr>
          <a:lstStyle/>
          <a:p>
            <a:pPr indent="0" marL="0">
              <a:buNone/>
            </a:pPr>
            <a:r>
              <a:rPr lang="en-US" sz="2800" b="1" dirty="0">
                <a:solidFill>
                  <a:srgbClr val="1F2933"/>
                </a:solidFill>
                <a:latin typeface="Aptos Display" pitchFamily="34" charset="0"/>
                <a:ea typeface="Aptos Display" pitchFamily="34" charset="-122"/>
                <a:cs typeface="Aptos Display" pitchFamily="34" charset="-120"/>
              </a:rPr>
              <a:t>The future I am imagining is simple: every important sentence carries a small audit label.</a:t>
            </a:r>
            <a:endParaRPr lang="en-US" sz="2800" dirty="0"/>
          </a:p>
        </p:txBody>
      </p:sp>
      <p:sp>
        <p:nvSpPr>
          <p:cNvPr id="6" name="Text 4"/>
          <p:cNvSpPr/>
          <p:nvPr/>
        </p:nvSpPr>
        <p:spPr>
          <a:xfrm>
            <a:off x="777240" y="2240280"/>
            <a:ext cx="6172200" cy="2560320"/>
          </a:xfrm>
          <a:prstGeom prst="rect">
            <a:avLst/>
          </a:prstGeom>
          <a:noFill/>
          <a:ln/>
        </p:spPr>
        <p:txBody>
          <a:bodyPr wrap="square" lIns="254" tIns="254" rIns="254" bIns="254" rtlCol="0" anchor="ctr">
            <a:normAutofit/>
          </a:bodyPr>
          <a:lstStyle/>
          <a:p>
            <a:r>
              <a:rPr lang="en-US" sz="1540" dirty="0">
                <a:solidFill>
                  <a:srgbClr val="1F2933"/>
                </a:solidFill>
              </a:rPr>
              <a:t>Legal clauses.</a:t>
            </a:r>
            <a:endParaRPr lang="en-US" sz="1540" dirty="0"/>
          </a:p>
          <a:p>
            <a:r>
              <a:rPr lang="en-US" sz="1540" dirty="0">
                <a:solidFill>
                  <a:srgbClr val="1F2933"/>
                </a:solidFill>
              </a:rPr>
              <a:t>Policy language.</a:t>
            </a:r>
            <a:endParaRPr lang="en-US" sz="1540" dirty="0"/>
          </a:p>
          <a:p>
            <a:r>
              <a:rPr lang="en-US" sz="1540" dirty="0">
                <a:solidFill>
                  <a:srgbClr val="1F2933"/>
                </a:solidFill>
              </a:rPr>
              <a:t>AI instructions.</a:t>
            </a:r>
            <a:endParaRPr lang="en-US" sz="1540" dirty="0"/>
          </a:p>
          <a:p>
            <a:r>
              <a:rPr lang="en-US" sz="1540" dirty="0">
                <a:solidFill>
                  <a:srgbClr val="1F2933"/>
                </a:solidFill>
              </a:rPr>
              <a:t>Translation outputs.</a:t>
            </a:r>
            <a:endParaRPr lang="en-US" sz="1540" dirty="0"/>
          </a:p>
          <a:p>
            <a:r>
              <a:rPr lang="en-US" sz="1540" dirty="0">
                <a:solidFill>
                  <a:srgbClr val="1F2933"/>
                </a:solidFill>
              </a:rPr>
              <a:t>Agent permissions.</a:t>
            </a:r>
            <a:endParaRPr lang="en-US" sz="1540" dirty="0"/>
          </a:p>
        </p:txBody>
      </p:sp>
      <p:sp>
        <p:nvSpPr>
          <p:cNvPr id="7" name="Text 5"/>
          <p:cNvSpPr/>
          <p:nvPr/>
        </p:nvSpPr>
        <p:spPr>
          <a:xfrm>
            <a:off x="7909560" y="2560320"/>
            <a:ext cx="1965960" cy="411480"/>
          </a:xfrm>
          <a:prstGeom prst="rect">
            <a:avLst/>
          </a:prstGeom>
          <a:noFill/>
          <a:ln/>
        </p:spPr>
        <p:txBody>
          <a:bodyPr wrap="square" lIns="762" tIns="762" rIns="762" bIns="762" rtlCol="0" anchor="ctr">
            <a:normAutofit/>
          </a:bodyPr>
          <a:lstStyle/>
          <a:p>
            <a:pPr algn="ctr" indent="0" marL="0">
              <a:buNone/>
            </a:pPr>
            <a:r>
              <a:rPr lang="en-US" sz="2100" b="1" dirty="0">
                <a:solidFill>
                  <a:srgbClr val="1F2933"/>
                </a:solidFill>
                <a:latin typeface="Aptos" pitchFamily="34" charset="0"/>
                <a:ea typeface="Aptos" pitchFamily="34" charset="-122"/>
                <a:cs typeface="Aptos" pitchFamily="34" charset="-120"/>
              </a:rPr>
              <a:t>Important sentence</a:t>
            </a:r>
            <a:endParaRPr lang="en-US" sz="2100" dirty="0"/>
          </a:p>
        </p:txBody>
      </p:sp>
      <p:sp>
        <p:nvSpPr>
          <p:cNvPr id="8" name="Shape 6"/>
          <p:cNvSpPr/>
          <p:nvPr/>
        </p:nvSpPr>
        <p:spPr>
          <a:xfrm>
            <a:off x="10104120" y="2487168"/>
            <a:ext cx="1097280" cy="457200"/>
          </a:xfrm>
          <a:prstGeom prst="roundRect">
            <a:avLst>
              <a:gd name="adj" fmla="val 24000"/>
            </a:avLst>
          </a:prstGeom>
          <a:solidFill>
            <a:srgbClr val="F1E5D0"/>
          </a:solidFill>
          <a:ln w="8890">
            <a:solidFill>
              <a:srgbClr val="2F7D73"/>
            </a:solidFill>
            <a:prstDash val="solid"/>
          </a:ln>
        </p:spPr>
      </p:sp>
      <p:sp>
        <p:nvSpPr>
          <p:cNvPr id="9" name="Text 7"/>
          <p:cNvSpPr/>
          <p:nvPr/>
        </p:nvSpPr>
        <p:spPr>
          <a:xfrm>
            <a:off x="10140696" y="2542032"/>
            <a:ext cx="1024128" cy="347472"/>
          </a:xfrm>
          <a:prstGeom prst="rect">
            <a:avLst/>
          </a:prstGeom>
          <a:noFill/>
          <a:ln/>
        </p:spPr>
        <p:txBody>
          <a:bodyPr wrap="square" lIns="762" tIns="762" rIns="762" bIns="762" rtlCol="0" anchor="ctr">
            <a:normAutofit/>
          </a:bodyPr>
          <a:lstStyle/>
          <a:p>
            <a:pPr algn="ctr" indent="0" marL="0">
              <a:buNone/>
            </a:pPr>
            <a:r>
              <a:rPr lang="en-US" sz="1200" b="1" dirty="0">
                <a:solidFill>
                  <a:srgbClr val="1F2933"/>
                </a:solidFill>
                <a:latin typeface="Aptos" pitchFamily="34" charset="0"/>
                <a:ea typeface="Aptos" pitchFamily="34" charset="-122"/>
                <a:cs typeface="Aptos" pitchFamily="34" charset="-120"/>
              </a:rPr>
              <a:t>audit label</a:t>
            </a:r>
            <a:endParaRPr lang="en-US" sz="1200" dirty="0"/>
          </a:p>
        </p:txBody>
      </p:sp>
      <p:sp>
        <p:nvSpPr>
          <p:cNvPr id="10" name="Text 8"/>
          <p:cNvSpPr/>
          <p:nvPr/>
        </p:nvSpPr>
        <p:spPr>
          <a:xfrm>
            <a:off x="8275320" y="3429000"/>
            <a:ext cx="2651760" cy="713232"/>
          </a:xfrm>
          <a:prstGeom prst="rect">
            <a:avLst/>
          </a:prstGeom>
          <a:noFill/>
          <a:ln/>
        </p:spPr>
        <p:txBody>
          <a:bodyPr wrap="square" lIns="762" tIns="762" rIns="762" bIns="762" rtlCol="0" anchor="ctr">
            <a:normAutofit/>
          </a:bodyPr>
          <a:lstStyle/>
          <a:p>
            <a:pPr algn="ctr" indent="0" marL="0">
              <a:buNone/>
            </a:pPr>
            <a:r>
              <a:rPr lang="en-US" sz="1400" dirty="0">
                <a:solidFill>
                  <a:srgbClr val="667085"/>
                </a:solidFill>
                <a:latin typeface="Aptos" pitchFamily="34" charset="0"/>
                <a:ea typeface="Aptos" pitchFamily="34" charset="-122"/>
                <a:cs typeface="Aptos" pitchFamily="34" charset="-120"/>
              </a:rPr>
              <a:t>address verified</a:t>
            </a:r>
            <a:endParaRPr lang="en-US" sz="1400" dirty="0"/>
          </a:p>
          <a:p>
            <a:pPr algn="ctr" indent="0" marL="0">
              <a:buNone/>
            </a:pPr>
            <a:r>
              <a:rPr lang="en-US" sz="1400" dirty="0">
                <a:solidFill>
                  <a:srgbClr val="667085"/>
                </a:solidFill>
                <a:latin typeface="Aptos" pitchFamily="34" charset="0"/>
                <a:ea typeface="Aptos" pitchFamily="34" charset="-122"/>
                <a:cs typeface="Aptos" pitchFamily="34" charset="-120"/>
              </a:rPr>
              <a:t>condition preserved</a:t>
            </a:r>
            <a:endParaRPr lang="en-US" sz="1400" dirty="0"/>
          </a:p>
          <a:p>
            <a:pPr algn="ctr" indent="0" marL="0">
              <a:buNone/>
            </a:pPr>
            <a:r>
              <a:rPr lang="en-US" sz="1400" dirty="0">
                <a:solidFill>
                  <a:srgbClr val="667085"/>
                </a:solidFill>
                <a:latin typeface="Aptos" pitchFamily="34" charset="0"/>
                <a:ea typeface="Aptos" pitchFamily="34" charset="-122"/>
                <a:cs typeface="Aptos" pitchFamily="34" charset="-120"/>
              </a:rPr>
              <a:t>rival blocked</a:t>
            </a:r>
            <a:endParaRPr lang="en-US" sz="1400" dirty="0"/>
          </a:p>
        </p:txBody>
      </p:sp>
      <p:sp>
        <p:nvSpPr>
          <p:cNvPr id="11" name="Text 9"/>
          <p:cNvSpPr/>
          <p:nvPr/>
        </p:nvSpPr>
        <p:spPr>
          <a:xfrm>
            <a:off x="594360" y="6473952"/>
            <a:ext cx="1920240" cy="201168"/>
          </a:xfrm>
          <a:prstGeom prst="rect">
            <a:avLst/>
          </a:prstGeom>
          <a:noFill/>
          <a:ln/>
        </p:spPr>
        <p:txBody>
          <a:bodyPr wrap="square" lIns="0" tIns="0" rIns="0" bIns="0" rtlCol="0" anchor="ctr"/>
          <a:lstStyle/>
          <a:p>
            <a:pPr indent="0" marL="0">
              <a:buNone/>
            </a:pPr>
            <a:r>
              <a:rPr lang="en-US" sz="850" dirty="0">
                <a:solidFill>
                  <a:srgbClr val="667085"/>
                </a:solidFill>
              </a:rPr>
              <a:t>Settlement Gate</a:t>
            </a:r>
            <a:endParaRPr lang="en-US" sz="850" dirty="0"/>
          </a:p>
        </p:txBody>
      </p:sp>
      <p:sp>
        <p:nvSpPr>
          <p:cNvPr id="12" name="Text 10"/>
          <p:cNvSpPr/>
          <p:nvPr/>
        </p:nvSpPr>
        <p:spPr>
          <a:xfrm>
            <a:off x="9281160" y="6473952"/>
            <a:ext cx="2331720" cy="201168"/>
          </a:xfrm>
          <a:prstGeom prst="rect">
            <a:avLst/>
          </a:prstGeom>
          <a:noFill/>
          <a:ln/>
        </p:spPr>
        <p:txBody>
          <a:bodyPr wrap="square" lIns="0" tIns="0" rIns="0" bIns="0" rtlCol="0" anchor="ctr"/>
          <a:lstStyle/>
          <a:p>
            <a:pPr algn="r" indent="0" marL="0">
              <a:buNone/>
            </a:pPr>
            <a:r>
              <a:rPr lang="en-US" sz="850" dirty="0">
                <a:solidFill>
                  <a:srgbClr val="667085"/>
                </a:solidFill>
              </a:rPr>
              <a:t>Protect → Validate → Build</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7EF"/>
        </a:solidFill>
      </p:bgPr>
    </p:bg>
    <p:spTree>
      <p:nvGrpSpPr>
        <p:cNvPr id="1" name=""/>
        <p:cNvGrpSpPr/>
        <p:nvPr/>
      </p:nvGrpSpPr>
      <p:grpSpPr>
        <a:xfrm>
          <a:off x="0" y="0"/>
          <a:ext cx="0" cy="0"/>
          <a:chOff x="0" y="0"/>
          <a:chExt cx="0" cy="0"/>
        </a:xfrm>
      </p:grpSpPr>
      <p:sp>
        <p:nvSpPr>
          <p:cNvPr id="2" name="Text 0"/>
          <p:cNvSpPr/>
          <p:nvPr/>
        </p:nvSpPr>
        <p:spPr>
          <a:xfrm>
            <a:off x="594360" y="310896"/>
            <a:ext cx="8046720" cy="320040"/>
          </a:xfrm>
          <a:prstGeom prst="rect">
            <a:avLst/>
          </a:prstGeom>
          <a:noFill/>
          <a:ln/>
        </p:spPr>
        <p:txBody>
          <a:bodyPr wrap="square" lIns="0" tIns="0" rIns="0" bIns="0" rtlCol="0" anchor="ctr"/>
          <a:lstStyle/>
          <a:p>
            <a:pPr indent="0" marL="0">
              <a:buNone/>
            </a:pPr>
            <a:r>
              <a:rPr lang="en-US" sz="2000" b="1" dirty="0">
                <a:solidFill>
                  <a:srgbClr val="2F7D73"/>
                </a:solidFill>
                <a:latin typeface="Aptos Display" pitchFamily="34" charset="0"/>
                <a:ea typeface="Aptos Display" pitchFamily="34" charset="-122"/>
                <a:cs typeface="Aptos Display" pitchFamily="34" charset="-120"/>
              </a:rPr>
              <a:t>The Ask to Anthony and PorterShed</a:t>
            </a:r>
            <a:endParaRPr lang="en-US" sz="2000" dirty="0"/>
          </a:p>
        </p:txBody>
      </p:sp>
      <p:sp>
        <p:nvSpPr>
          <p:cNvPr id="3" name="Text 1"/>
          <p:cNvSpPr/>
          <p:nvPr/>
        </p:nvSpPr>
        <p:spPr>
          <a:xfrm>
            <a:off x="11109960" y="329184"/>
            <a:ext cx="457200" cy="256032"/>
          </a:xfrm>
          <a:prstGeom prst="rect">
            <a:avLst/>
          </a:prstGeom>
          <a:noFill/>
          <a:ln/>
        </p:spPr>
        <p:txBody>
          <a:bodyPr wrap="square" lIns="0" tIns="0" rIns="0" bIns="0" rtlCol="0" anchor="ctr"/>
          <a:lstStyle/>
          <a:p>
            <a:pPr algn="r" indent="0" marL="0">
              <a:buNone/>
            </a:pPr>
            <a:r>
              <a:rPr lang="en-US" sz="900" dirty="0">
                <a:solidFill>
                  <a:srgbClr val="667085"/>
                </a:solidFill>
              </a:rPr>
              <a:t>16</a:t>
            </a:r>
            <a:endParaRPr lang="en-US" sz="900" dirty="0"/>
          </a:p>
        </p:txBody>
      </p:sp>
      <p:sp>
        <p:nvSpPr>
          <p:cNvPr id="4" name="Shape 2"/>
          <p:cNvSpPr/>
          <p:nvPr/>
        </p:nvSpPr>
        <p:spPr>
          <a:xfrm>
            <a:off x="594360" y="749808"/>
            <a:ext cx="11018520" cy="0"/>
          </a:xfrm>
          <a:prstGeom prst="line">
            <a:avLst/>
          </a:prstGeom>
          <a:noFill/>
          <a:ln w="7620">
            <a:solidFill>
              <a:srgbClr val="CDD5DF"/>
            </a:solidFill>
            <a:prstDash val="solid"/>
          </a:ln>
        </p:spPr>
      </p:sp>
      <p:sp>
        <p:nvSpPr>
          <p:cNvPr id="5" name="Text 3"/>
          <p:cNvSpPr/>
          <p:nvPr/>
        </p:nvSpPr>
        <p:spPr>
          <a:xfrm>
            <a:off x="731520" y="1143000"/>
            <a:ext cx="10744200" cy="914400"/>
          </a:xfrm>
          <a:prstGeom prst="rect">
            <a:avLst/>
          </a:prstGeom>
          <a:noFill/>
          <a:ln/>
        </p:spPr>
        <p:txBody>
          <a:bodyPr wrap="square" lIns="254" tIns="254" rIns="254" bIns="254" rtlCol="0" anchor="ctr">
            <a:normAutofit/>
          </a:bodyPr>
          <a:lstStyle/>
          <a:p>
            <a:pPr algn="ctr" indent="0" marL="0">
              <a:buNone/>
            </a:pPr>
            <a:r>
              <a:rPr lang="en-US" sz="3400" b="1" dirty="0">
                <a:solidFill>
                  <a:srgbClr val="1F2933"/>
                </a:solidFill>
                <a:latin typeface="Aptos Display" pitchFamily="34" charset="0"/>
                <a:ea typeface="Aptos Display" pitchFamily="34" charset="-122"/>
                <a:cs typeface="Aptos Display" pitchFamily="34" charset="-120"/>
              </a:rPr>
              <a:t>Help me take the next step safely.</a:t>
            </a:r>
            <a:endParaRPr lang="en-US" sz="3400" dirty="0"/>
          </a:p>
        </p:txBody>
      </p:sp>
      <p:sp>
        <p:nvSpPr>
          <p:cNvPr id="6" name="Shape 4"/>
          <p:cNvSpPr/>
          <p:nvPr/>
        </p:nvSpPr>
        <p:spPr>
          <a:xfrm>
            <a:off x="2057400" y="2743200"/>
            <a:ext cx="1828800" cy="594360"/>
          </a:xfrm>
          <a:prstGeom prst="roundRect">
            <a:avLst>
              <a:gd name="adj" fmla="val 18462"/>
            </a:avLst>
          </a:prstGeom>
          <a:solidFill>
            <a:srgbClr val="F1E5D0"/>
          </a:solidFill>
          <a:ln w="8890">
            <a:solidFill>
              <a:srgbClr val="2F7D73"/>
            </a:solidFill>
            <a:prstDash val="solid"/>
          </a:ln>
        </p:spPr>
      </p:sp>
      <p:sp>
        <p:nvSpPr>
          <p:cNvPr id="7" name="Text 5"/>
          <p:cNvSpPr/>
          <p:nvPr/>
        </p:nvSpPr>
        <p:spPr>
          <a:xfrm>
            <a:off x="2093976" y="2798064"/>
            <a:ext cx="1755648" cy="484632"/>
          </a:xfrm>
          <a:prstGeom prst="rect">
            <a:avLst/>
          </a:prstGeom>
          <a:noFill/>
          <a:ln/>
        </p:spPr>
        <p:txBody>
          <a:bodyPr wrap="square" lIns="762" tIns="762" rIns="762" bIns="762" rtlCol="0" anchor="ctr">
            <a:normAutofit/>
          </a:bodyPr>
          <a:lstStyle/>
          <a:p>
            <a:pPr algn="ctr" indent="0" marL="0">
              <a:buNone/>
            </a:pPr>
            <a:r>
              <a:rPr lang="en-US" sz="1800" b="1" dirty="0">
                <a:solidFill>
                  <a:srgbClr val="1F2933"/>
                </a:solidFill>
                <a:latin typeface="Aptos" pitchFamily="34" charset="0"/>
                <a:ea typeface="Aptos" pitchFamily="34" charset="-122"/>
                <a:cs typeface="Aptos" pitchFamily="34" charset="-120"/>
              </a:rPr>
              <a:t>Protect</a:t>
            </a:r>
            <a:endParaRPr lang="en-US" sz="1800" dirty="0"/>
          </a:p>
        </p:txBody>
      </p:sp>
      <p:sp>
        <p:nvSpPr>
          <p:cNvPr id="8" name="Shape 6"/>
          <p:cNvSpPr/>
          <p:nvPr/>
        </p:nvSpPr>
        <p:spPr>
          <a:xfrm>
            <a:off x="3959352" y="3044952"/>
            <a:ext cx="795528" cy="0"/>
          </a:xfrm>
          <a:prstGeom prst="line">
            <a:avLst/>
          </a:prstGeom>
          <a:noFill/>
          <a:ln w="19050">
            <a:solidFill>
              <a:srgbClr val="2F7D73"/>
            </a:solidFill>
            <a:prstDash val="solid"/>
            <a:headEnd type="none"/>
            <a:tailEnd type="triangle"/>
          </a:ln>
        </p:spPr>
      </p:sp>
      <p:sp>
        <p:nvSpPr>
          <p:cNvPr id="9" name="Shape 7"/>
          <p:cNvSpPr/>
          <p:nvPr/>
        </p:nvSpPr>
        <p:spPr>
          <a:xfrm>
            <a:off x="4892040" y="2743200"/>
            <a:ext cx="1828800" cy="594360"/>
          </a:xfrm>
          <a:prstGeom prst="roundRect">
            <a:avLst>
              <a:gd name="adj" fmla="val 18462"/>
            </a:avLst>
          </a:prstGeom>
          <a:solidFill>
            <a:srgbClr val="E7F1EE"/>
          </a:solidFill>
          <a:ln w="8890">
            <a:solidFill>
              <a:srgbClr val="2F7D73"/>
            </a:solidFill>
            <a:prstDash val="solid"/>
          </a:ln>
        </p:spPr>
      </p:sp>
      <p:sp>
        <p:nvSpPr>
          <p:cNvPr id="10" name="Text 8"/>
          <p:cNvSpPr/>
          <p:nvPr/>
        </p:nvSpPr>
        <p:spPr>
          <a:xfrm>
            <a:off x="4928616" y="2798064"/>
            <a:ext cx="1755648" cy="484632"/>
          </a:xfrm>
          <a:prstGeom prst="rect">
            <a:avLst/>
          </a:prstGeom>
          <a:noFill/>
          <a:ln/>
        </p:spPr>
        <p:txBody>
          <a:bodyPr wrap="square" lIns="762" tIns="762" rIns="762" bIns="762" rtlCol="0" anchor="ctr">
            <a:normAutofit/>
          </a:bodyPr>
          <a:lstStyle/>
          <a:p>
            <a:pPr algn="ctr" indent="0" marL="0">
              <a:buNone/>
            </a:pPr>
            <a:r>
              <a:rPr lang="en-US" sz="1800" b="1" dirty="0">
                <a:solidFill>
                  <a:srgbClr val="1F2933"/>
                </a:solidFill>
                <a:latin typeface="Aptos" pitchFamily="34" charset="0"/>
                <a:ea typeface="Aptos" pitchFamily="34" charset="-122"/>
                <a:cs typeface="Aptos" pitchFamily="34" charset="-120"/>
              </a:rPr>
              <a:t>Review</a:t>
            </a:r>
            <a:endParaRPr lang="en-US" sz="1800" dirty="0"/>
          </a:p>
        </p:txBody>
      </p:sp>
      <p:sp>
        <p:nvSpPr>
          <p:cNvPr id="11" name="Shape 9"/>
          <p:cNvSpPr/>
          <p:nvPr/>
        </p:nvSpPr>
        <p:spPr>
          <a:xfrm>
            <a:off x="6793992" y="3044952"/>
            <a:ext cx="795528" cy="0"/>
          </a:xfrm>
          <a:prstGeom prst="line">
            <a:avLst/>
          </a:prstGeom>
          <a:noFill/>
          <a:ln w="19050">
            <a:solidFill>
              <a:srgbClr val="2F7D73"/>
            </a:solidFill>
            <a:prstDash val="solid"/>
            <a:headEnd type="none"/>
            <a:tailEnd type="triangle"/>
          </a:ln>
        </p:spPr>
      </p:sp>
      <p:sp>
        <p:nvSpPr>
          <p:cNvPr id="12" name="Shape 10"/>
          <p:cNvSpPr/>
          <p:nvPr/>
        </p:nvSpPr>
        <p:spPr>
          <a:xfrm>
            <a:off x="7726680" y="2743200"/>
            <a:ext cx="1828800" cy="594360"/>
          </a:xfrm>
          <a:prstGeom prst="roundRect">
            <a:avLst>
              <a:gd name="adj" fmla="val 18462"/>
            </a:avLst>
          </a:prstGeom>
          <a:solidFill>
            <a:srgbClr val="E7F1EE"/>
          </a:solidFill>
          <a:ln w="8890">
            <a:solidFill>
              <a:srgbClr val="2F7D73"/>
            </a:solidFill>
            <a:prstDash val="solid"/>
          </a:ln>
        </p:spPr>
      </p:sp>
      <p:sp>
        <p:nvSpPr>
          <p:cNvPr id="13" name="Text 11"/>
          <p:cNvSpPr/>
          <p:nvPr/>
        </p:nvSpPr>
        <p:spPr>
          <a:xfrm>
            <a:off x="7763256" y="2798064"/>
            <a:ext cx="1755648" cy="484632"/>
          </a:xfrm>
          <a:prstGeom prst="rect">
            <a:avLst/>
          </a:prstGeom>
          <a:noFill/>
          <a:ln/>
        </p:spPr>
        <p:txBody>
          <a:bodyPr wrap="square" lIns="762" tIns="762" rIns="762" bIns="762" rtlCol="0" anchor="ctr">
            <a:normAutofit/>
          </a:bodyPr>
          <a:lstStyle/>
          <a:p>
            <a:pPr algn="ctr" indent="0" marL="0">
              <a:buNone/>
            </a:pPr>
            <a:r>
              <a:rPr lang="en-US" sz="1800" b="1" dirty="0">
                <a:solidFill>
                  <a:srgbClr val="1F2933"/>
                </a:solidFill>
                <a:latin typeface="Aptos" pitchFamily="34" charset="0"/>
                <a:ea typeface="Aptos" pitchFamily="34" charset="-122"/>
                <a:cs typeface="Aptos" pitchFamily="34" charset="-120"/>
              </a:rPr>
              <a:t>Develop</a:t>
            </a:r>
            <a:endParaRPr lang="en-US" sz="1800" dirty="0"/>
          </a:p>
        </p:txBody>
      </p:sp>
      <p:sp>
        <p:nvSpPr>
          <p:cNvPr id="14" name="Text 12"/>
          <p:cNvSpPr/>
          <p:nvPr/>
        </p:nvSpPr>
        <p:spPr>
          <a:xfrm>
            <a:off x="777240" y="3886200"/>
            <a:ext cx="6172200" cy="2560320"/>
          </a:xfrm>
          <a:prstGeom prst="rect">
            <a:avLst/>
          </a:prstGeom>
          <a:noFill/>
          <a:ln/>
        </p:spPr>
        <p:txBody>
          <a:bodyPr wrap="square" lIns="254" tIns="254" rIns="254" bIns="254" rtlCol="0" anchor="ctr">
            <a:normAutofit/>
          </a:bodyPr>
          <a:lstStyle/>
          <a:p>
            <a:r>
              <a:rPr lang="en-US" sz="1540" dirty="0">
                <a:solidFill>
                  <a:srgbClr val="1F2933"/>
                </a:solidFill>
              </a:rPr>
              <a:t>Do next: advise on protection, trusted review, and commercial path.</a:t>
            </a:r>
            <a:endParaRPr lang="en-US" sz="1540" dirty="0"/>
          </a:p>
          <a:p>
            <a:r>
              <a:rPr lang="en-US" sz="1540" dirty="0">
                <a:solidFill>
                  <a:srgbClr val="1F2933"/>
                </a:solidFill>
              </a:rPr>
              <a:t>Do not do yet: circulate widely, publish openly, or overexpose the mechanism.</a:t>
            </a:r>
            <a:endParaRPr lang="en-US" sz="1540" dirty="0"/>
          </a:p>
          <a:p>
            <a:r>
              <a:rPr lang="en-US" sz="1540" dirty="0">
                <a:solidFill>
                  <a:srgbClr val="1F2933"/>
                </a:solidFill>
              </a:rPr>
              <a:t>Useful introductions: IP, AI validation, translation experts, product builders, commercialisation mentors.</a:t>
            </a:r>
            <a:endParaRPr lang="en-US" sz="1540" dirty="0"/>
          </a:p>
          <a:p>
            <a:r>
              <a:rPr lang="en-US" sz="1540" dirty="0">
                <a:solidFill>
                  <a:srgbClr val="1F2933"/>
                </a:solidFill>
              </a:rPr>
              <a:t>Safe next step: small confidential review with the right people.</a:t>
            </a:r>
            <a:endParaRPr lang="en-US" sz="1540" dirty="0"/>
          </a:p>
          <a:p>
            <a:r>
              <a:rPr lang="en-US" sz="1540" dirty="0">
                <a:solidFill>
                  <a:srgbClr val="1F2933"/>
                </a:solidFill>
              </a:rPr>
              <a:t>Goal: test the discovery without losing its value.</a:t>
            </a:r>
            <a:endParaRPr lang="en-US" sz="1540" dirty="0"/>
          </a:p>
        </p:txBody>
      </p:sp>
      <p:sp>
        <p:nvSpPr>
          <p:cNvPr id="15" name="Text 13"/>
          <p:cNvSpPr/>
          <p:nvPr/>
        </p:nvSpPr>
        <p:spPr>
          <a:xfrm>
            <a:off x="594360" y="6473952"/>
            <a:ext cx="1920240" cy="201168"/>
          </a:xfrm>
          <a:prstGeom prst="rect">
            <a:avLst/>
          </a:prstGeom>
          <a:noFill/>
          <a:ln/>
        </p:spPr>
        <p:txBody>
          <a:bodyPr wrap="square" lIns="0" tIns="0" rIns="0" bIns="0" rtlCol="0" anchor="ctr"/>
          <a:lstStyle/>
          <a:p>
            <a:pPr indent="0" marL="0">
              <a:buNone/>
            </a:pPr>
            <a:r>
              <a:rPr lang="en-US" sz="850" dirty="0">
                <a:solidFill>
                  <a:srgbClr val="667085"/>
                </a:solidFill>
              </a:rPr>
              <a:t>Settlement Gate</a:t>
            </a:r>
            <a:endParaRPr lang="en-US" sz="850" dirty="0"/>
          </a:p>
        </p:txBody>
      </p:sp>
      <p:sp>
        <p:nvSpPr>
          <p:cNvPr id="16" name="Text 14"/>
          <p:cNvSpPr/>
          <p:nvPr/>
        </p:nvSpPr>
        <p:spPr>
          <a:xfrm>
            <a:off x="9281160" y="6473952"/>
            <a:ext cx="2331720" cy="201168"/>
          </a:xfrm>
          <a:prstGeom prst="rect">
            <a:avLst/>
          </a:prstGeom>
          <a:noFill/>
          <a:ln/>
        </p:spPr>
        <p:txBody>
          <a:bodyPr wrap="square" lIns="0" tIns="0" rIns="0" bIns="0" rtlCol="0" anchor="ctr"/>
          <a:lstStyle/>
          <a:p>
            <a:pPr algn="r" indent="0" marL="0">
              <a:buNone/>
            </a:pPr>
            <a:r>
              <a:rPr lang="en-US" sz="850" dirty="0">
                <a:solidFill>
                  <a:srgbClr val="667085"/>
                </a:solidFill>
              </a:rPr>
              <a:t>Protect → Validate → Build</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Settlement Gate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Settlement Gate: Why Completed Sentences Need Receipts</dc:title>
  <dc:subject>Settlement Gate Anthony / PorterShed presentation</dc:subject>
  <dc:creator>Settlement Gate</dc:creator>
  <cp:lastModifiedBy>Settlement Gate</cp:lastModifiedBy>
  <cp:revision>1</cp:revision>
  <dcterms:created xsi:type="dcterms:W3CDTF">2026-07-06T14:10:58Z</dcterms:created>
  <dcterms:modified xsi:type="dcterms:W3CDTF">2026-07-06T14:10:58Z</dcterms:modified>
</cp:coreProperties>
</file>